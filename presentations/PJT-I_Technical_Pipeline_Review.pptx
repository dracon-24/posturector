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71979c29ce4033" /><Relationship Type="http://schemas.openxmlformats.org/officeDocument/2006/relationships/extended-properties" Target="/docProps/app.xml" Id="R68064103a8b14729" /><Relationship Type="http://schemas.openxmlformats.org/officeDocument/2006/relationships/officeDocument" Target="/ppt/presentation.xml" Id="Rd78517d9d3674f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c4da4c9b104d35"/>
  </p:sldMasterIdLst>
  <p:notesMasterIdLst>
    <p:notesMasterId xmlns:r="http://schemas.openxmlformats.org/officeDocument/2006/relationships" r:id="R75741b21828c48bf"/>
  </p:notesMasterIdLst>
  <p:sldIdLst>
    <p:sldId xmlns:r="http://schemas.openxmlformats.org/officeDocument/2006/relationships" id="256" r:id="Rdb6da44d624443c8"/>
    <p:sldId xmlns:r="http://schemas.openxmlformats.org/officeDocument/2006/relationships" id="257" r:id="R02c8254c91994dee"/>
    <p:sldId xmlns:r="http://schemas.openxmlformats.org/officeDocument/2006/relationships" id="258" r:id="Re7f2d8fea6e64fd9"/>
    <p:sldId xmlns:r="http://schemas.openxmlformats.org/officeDocument/2006/relationships" id="259" r:id="R6472c97cf6454fb2"/>
    <p:sldId xmlns:r="http://schemas.openxmlformats.org/officeDocument/2006/relationships" id="260" r:id="R18bdbf309dc44d18"/>
    <p:sldId xmlns:r="http://schemas.openxmlformats.org/officeDocument/2006/relationships" id="261" r:id="R1da4731496484f1b"/>
    <p:sldId xmlns:r="http://schemas.openxmlformats.org/officeDocument/2006/relationships" id="262" r:id="R306a6c68d0364171"/>
    <p:sldId xmlns:r="http://schemas.openxmlformats.org/officeDocument/2006/relationships" id="263" r:id="R266d68e0d6ed4200"/>
    <p:sldId xmlns:r="http://schemas.openxmlformats.org/officeDocument/2006/relationships" id="264" r:id="Rf16abf32b1994f7b"/>
    <p:sldId xmlns:r="http://schemas.openxmlformats.org/officeDocument/2006/relationships" id="265" r:id="R02b819294b254a31"/>
    <p:sldId xmlns:r="http://schemas.openxmlformats.org/officeDocument/2006/relationships" id="266" r:id="R305e60b2bfd34a2d"/>
    <p:sldId xmlns:r="http://schemas.openxmlformats.org/officeDocument/2006/relationships" id="267" r:id="Ree1a9d9b27a841b7"/>
    <p:sldId xmlns:r="http://schemas.openxmlformats.org/officeDocument/2006/relationships" id="268" r:id="R01bb5f0015b34cc0"/>
    <p:sldId xmlns:r="http://schemas.openxmlformats.org/officeDocument/2006/relationships" id="269" r:id="Rb6629e14a35e4fef"/>
    <p:sldId xmlns:r="http://schemas.openxmlformats.org/officeDocument/2006/relationships" id="270" r:id="Re7189494008d4bc8"/>
    <p:sldId xmlns:r="http://schemas.openxmlformats.org/officeDocument/2006/relationships" id="271" r:id="R6a1ec398442c4f06"/>
    <p:sldId xmlns:r="http://schemas.openxmlformats.org/officeDocument/2006/relationships" id="272" r:id="Rfb0094654f634f30"/>
    <p:sldId xmlns:r="http://schemas.openxmlformats.org/officeDocument/2006/relationships" id="273" r:id="R5858ac4d77aa49da"/>
    <p:sldId xmlns:r="http://schemas.openxmlformats.org/officeDocument/2006/relationships" id="274" r:id="Rbea98ffaf3c94bbe"/>
    <p:sldId xmlns:r="http://schemas.openxmlformats.org/officeDocument/2006/relationships" id="275" r:id="Re0760ce6bccd4ff4"/>
    <p:sldId xmlns:r="http://schemas.openxmlformats.org/officeDocument/2006/relationships" id="276" r:id="R886a3e58de16444e"/>
    <p:sldId xmlns:r="http://schemas.openxmlformats.org/officeDocument/2006/relationships" id="277" r:id="Re3c3229e79c44738"/>
    <p:sldId xmlns:r="http://schemas.openxmlformats.org/officeDocument/2006/relationships" id="278" r:id="R6f9d4141cdf245cb"/>
    <p:sldId xmlns:r="http://schemas.openxmlformats.org/officeDocument/2006/relationships" id="279" r:id="Rfb3bc916f4a94efa"/>
    <p:sldId xmlns:r="http://schemas.openxmlformats.org/officeDocument/2006/relationships" id="280" r:id="Rd8ae9ad67813499c"/>
    <p:sldId xmlns:r="http://schemas.openxmlformats.org/officeDocument/2006/relationships" id="281" r:id="Rafd5e00983b349fd"/>
    <p:sldId xmlns:r="http://schemas.openxmlformats.org/officeDocument/2006/relationships" id="282" r:id="Rd0633b65ed5d451f"/>
    <p:sldId xmlns:r="http://schemas.openxmlformats.org/officeDocument/2006/relationships" id="283" r:id="Rf92257ccc340432c"/>
    <p:sldId xmlns:r="http://schemas.openxmlformats.org/officeDocument/2006/relationships" id="284" r:id="Rbc18eda3c3d441ff"/>
    <p:sldId xmlns:r="http://schemas.openxmlformats.org/officeDocument/2006/relationships" id="285" r:id="R3d4219ea6c33456f"/>
    <p:sldId xmlns:r="http://schemas.openxmlformats.org/officeDocument/2006/relationships" id="286" r:id="R6ecd9668dc244d3c"/>
    <p:sldId xmlns:r="http://schemas.openxmlformats.org/officeDocument/2006/relationships" id="287" r:id="Rbf4f3709fb864c68"/>
    <p:sldId xmlns:r="http://schemas.openxmlformats.org/officeDocument/2006/relationships" id="288" r:id="Rdb4aecc9eba646f1"/>
    <p:sldId xmlns:r="http://schemas.openxmlformats.org/officeDocument/2006/relationships" id="289" r:id="R6c534e2b6f7a49f1"/>
    <p:sldId xmlns:r="http://schemas.openxmlformats.org/officeDocument/2006/relationships" id="290" r:id="R3075962d5e5e4bc0"/>
    <p:sldId xmlns:r="http://schemas.openxmlformats.org/officeDocument/2006/relationships" id="291" r:id="R2e40fe5c7f9e4907"/>
    <p:sldId xmlns:r="http://schemas.openxmlformats.org/officeDocument/2006/relationships" id="292" r:id="Rccee0419c93b45f1"/>
    <p:sldId xmlns:r="http://schemas.openxmlformats.org/officeDocument/2006/relationships" id="293" r:id="Rc6d148b77a0b4069"/>
    <p:sldId xmlns:r="http://schemas.openxmlformats.org/officeDocument/2006/relationships" id="294" r:id="R397e9d63541a4dfa"/>
    <p:sldId xmlns:r="http://schemas.openxmlformats.org/officeDocument/2006/relationships" id="295" r:id="R2119f05ddc3445ff"/>
    <p:sldId xmlns:r="http://schemas.openxmlformats.org/officeDocument/2006/relationships" id="296" r:id="Rd2324cf0a4a4473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4368f0ce67435c" /><Relationship Type="http://schemas.openxmlformats.org/officeDocument/2006/relationships/slideMaster" Target="/ppt/slideMasters/slideMaster1.xml" Id="Rcfc4da4c9b104d35" /><Relationship Type="http://schemas.openxmlformats.org/officeDocument/2006/relationships/notesMaster" Target="/ppt/notesMasters/notesMaster1.xml" Id="R75741b21828c48bf" /><Relationship Type="http://schemas.openxmlformats.org/officeDocument/2006/relationships/presProps" Target="/ppt/presProps.xml" Id="Re3933aadda284f12" /><Relationship Type="http://schemas.openxmlformats.org/officeDocument/2006/relationships/tableStyles" Target="/ppt/tableStyles.xml" Id="Re7743186f52f4d25" /><Relationship Type="http://schemas.openxmlformats.org/officeDocument/2006/relationships/slide" Target="/ppt/slides/slide1.xml" Id="Rdb6da44d624443c8" /><Relationship Type="http://schemas.openxmlformats.org/officeDocument/2006/relationships/slide" Target="/ppt/slides/slide2.xml" Id="R02c8254c91994dee" /><Relationship Type="http://schemas.openxmlformats.org/officeDocument/2006/relationships/slide" Target="/ppt/slides/slide3.xml" Id="Re7f2d8fea6e64fd9" /><Relationship Type="http://schemas.openxmlformats.org/officeDocument/2006/relationships/slide" Target="/ppt/slides/slide4.xml" Id="R6472c97cf6454fb2" /><Relationship Type="http://schemas.openxmlformats.org/officeDocument/2006/relationships/slide" Target="/ppt/slides/slide5.xml" Id="R18bdbf309dc44d18" /><Relationship Type="http://schemas.openxmlformats.org/officeDocument/2006/relationships/slide" Target="/ppt/slides/slide6.xml" Id="R1da4731496484f1b" /><Relationship Type="http://schemas.openxmlformats.org/officeDocument/2006/relationships/slide" Target="/ppt/slides/slide7.xml" Id="R306a6c68d0364171" /><Relationship Type="http://schemas.openxmlformats.org/officeDocument/2006/relationships/slide" Target="/ppt/slides/slide8.xml" Id="R266d68e0d6ed4200" /><Relationship Type="http://schemas.openxmlformats.org/officeDocument/2006/relationships/slide" Target="/ppt/slides/slide9.xml" Id="Rf16abf32b1994f7b" /><Relationship Type="http://schemas.openxmlformats.org/officeDocument/2006/relationships/slide" Target="/ppt/slides/slide10.xml" Id="R02b819294b254a31" /><Relationship Type="http://schemas.openxmlformats.org/officeDocument/2006/relationships/slide" Target="/ppt/slides/slide11.xml" Id="R305e60b2bfd34a2d" /><Relationship Type="http://schemas.openxmlformats.org/officeDocument/2006/relationships/slide" Target="/ppt/slides/slide12.xml" Id="Ree1a9d9b27a841b7" /><Relationship Type="http://schemas.openxmlformats.org/officeDocument/2006/relationships/slide" Target="/ppt/slides/slide13.xml" Id="R01bb5f0015b34cc0" /><Relationship Type="http://schemas.openxmlformats.org/officeDocument/2006/relationships/slide" Target="/ppt/slides/slide14.xml" Id="Rb6629e14a35e4fef" /><Relationship Type="http://schemas.openxmlformats.org/officeDocument/2006/relationships/slide" Target="/ppt/slides/slide15.xml" Id="Re7189494008d4bc8" /><Relationship Type="http://schemas.openxmlformats.org/officeDocument/2006/relationships/slide" Target="/ppt/slides/slide16.xml" Id="R6a1ec398442c4f06" /><Relationship Type="http://schemas.openxmlformats.org/officeDocument/2006/relationships/slide" Target="/ppt/slides/slide17.xml" Id="Rfb0094654f634f30" /><Relationship Type="http://schemas.openxmlformats.org/officeDocument/2006/relationships/slide" Target="/ppt/slides/slide18.xml" Id="R5858ac4d77aa49da" /><Relationship Type="http://schemas.openxmlformats.org/officeDocument/2006/relationships/slide" Target="/ppt/slides/slide19.xml" Id="Rbea98ffaf3c94bbe" /><Relationship Type="http://schemas.openxmlformats.org/officeDocument/2006/relationships/slide" Target="/ppt/slides/slide20.xml" Id="Re0760ce6bccd4ff4" /><Relationship Type="http://schemas.openxmlformats.org/officeDocument/2006/relationships/slide" Target="/ppt/slides/slide21.xml" Id="R886a3e58de16444e" /><Relationship Type="http://schemas.openxmlformats.org/officeDocument/2006/relationships/slide" Target="/ppt/slides/slide22.xml" Id="Re3c3229e79c44738" /><Relationship Type="http://schemas.openxmlformats.org/officeDocument/2006/relationships/slide" Target="/ppt/slides/slide23.xml" Id="R6f9d4141cdf245cb" /><Relationship Type="http://schemas.openxmlformats.org/officeDocument/2006/relationships/slide" Target="/ppt/slides/slide24.xml" Id="Rfb3bc916f4a94efa" /><Relationship Type="http://schemas.openxmlformats.org/officeDocument/2006/relationships/slide" Target="/ppt/slides/slide25.xml" Id="Rd8ae9ad67813499c" /><Relationship Type="http://schemas.openxmlformats.org/officeDocument/2006/relationships/slide" Target="/ppt/slides/slide26.xml" Id="Rafd5e00983b349fd" /><Relationship Type="http://schemas.openxmlformats.org/officeDocument/2006/relationships/slide" Target="/ppt/slides/slide27.xml" Id="Rd0633b65ed5d451f" /><Relationship Type="http://schemas.openxmlformats.org/officeDocument/2006/relationships/slide" Target="/ppt/slides/slide28.xml" Id="Rf92257ccc340432c" /><Relationship Type="http://schemas.openxmlformats.org/officeDocument/2006/relationships/slide" Target="/ppt/slides/slide29.xml" Id="Rbc18eda3c3d441ff" /><Relationship Type="http://schemas.openxmlformats.org/officeDocument/2006/relationships/slide" Target="/ppt/slides/slide30.xml" Id="R3d4219ea6c33456f" /><Relationship Type="http://schemas.openxmlformats.org/officeDocument/2006/relationships/slide" Target="/ppt/slides/slide31.xml" Id="R6ecd9668dc244d3c" /><Relationship Type="http://schemas.openxmlformats.org/officeDocument/2006/relationships/slide" Target="/ppt/slides/slide32.xml" Id="Rbf4f3709fb864c68" /><Relationship Type="http://schemas.openxmlformats.org/officeDocument/2006/relationships/slide" Target="/ppt/slides/slide33.xml" Id="Rdb4aecc9eba646f1" /><Relationship Type="http://schemas.openxmlformats.org/officeDocument/2006/relationships/slide" Target="/ppt/slides/slide34.xml" Id="R6c534e2b6f7a49f1" /><Relationship Type="http://schemas.openxmlformats.org/officeDocument/2006/relationships/slide" Target="/ppt/slides/slide35.xml" Id="R3075962d5e5e4bc0" /><Relationship Type="http://schemas.openxmlformats.org/officeDocument/2006/relationships/slide" Target="/ppt/slides/slide36.xml" Id="R2e40fe5c7f9e4907" /><Relationship Type="http://schemas.openxmlformats.org/officeDocument/2006/relationships/slide" Target="/ppt/slides/slide37.xml" Id="Rccee0419c93b45f1" /><Relationship Type="http://schemas.openxmlformats.org/officeDocument/2006/relationships/slide" Target="/ppt/slides/slide38.xml" Id="Rc6d148b77a0b4069" /><Relationship Type="http://schemas.openxmlformats.org/officeDocument/2006/relationships/slide" Target="/ppt/slides/slide39.xml" Id="R397e9d63541a4dfa" /><Relationship Type="http://schemas.openxmlformats.org/officeDocument/2006/relationships/slide" Target="/ppt/slides/slide40.xml" Id="R2119f05ddc3445ff" /><Relationship Type="http://schemas.openxmlformats.org/officeDocument/2006/relationships/slide" Target="/ppt/slides/slide41.xml" Id="Rd2324cf0a4a447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5abd58df974f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28701a895444da" /><Relationship Type="http://schemas.openxmlformats.org/officeDocument/2006/relationships/notesMaster" Target="/ppt/notesMasters/notesMaster1.xml" Id="R4ea497a5c88f4a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f1b6fbf15a49a1" /><Relationship Type="http://schemas.openxmlformats.org/officeDocument/2006/relationships/notesMaster" Target="/ppt/notesMasters/notesMaster1.xml" Id="R9cea7e883c3d40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fe9d48f74b436a" /><Relationship Type="http://schemas.openxmlformats.org/officeDocument/2006/relationships/notesMaster" Target="/ppt/notesMasters/notesMaster1.xml" Id="Rfb4130ce6e9541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88b7cf031643f4" /><Relationship Type="http://schemas.openxmlformats.org/officeDocument/2006/relationships/notesMaster" Target="/ppt/notesMasters/notesMaster1.xml" Id="R2f0f63faaee84d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b73e4b027c45ab" /><Relationship Type="http://schemas.openxmlformats.org/officeDocument/2006/relationships/notesMaster" Target="/ppt/notesMasters/notesMaster1.xml" Id="R1a1a791bcc8c44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82a669363f4f87" /><Relationship Type="http://schemas.openxmlformats.org/officeDocument/2006/relationships/notesMaster" Target="/ppt/notesMasters/notesMaster1.xml" Id="Rc17c1dd1e5ae4d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eb0ea8df6b4360" /><Relationship Type="http://schemas.openxmlformats.org/officeDocument/2006/relationships/notesMaster" Target="/ppt/notesMasters/notesMaster1.xml" Id="R65f732779aca4f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a26081b76f4e13" /><Relationship Type="http://schemas.openxmlformats.org/officeDocument/2006/relationships/notesMaster" Target="/ppt/notesMasters/notesMaster1.xml" Id="Rc9dd74a73e0340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7b890c6e8646f0" /><Relationship Type="http://schemas.openxmlformats.org/officeDocument/2006/relationships/notesMaster" Target="/ppt/notesMasters/notesMaster1.xml" Id="R03a95f58be0941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07e315ba1e41cf" /><Relationship Type="http://schemas.openxmlformats.org/officeDocument/2006/relationships/notesMaster" Target="/ppt/notesMasters/notesMaster1.xml" Id="Rc1e6598e91f34f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bafccc122d42a0" /><Relationship Type="http://schemas.openxmlformats.org/officeDocument/2006/relationships/notesMaster" Target="/ppt/notesMasters/notesMaster1.xml" Id="Re8bbe0f159f64b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f4a13f72364242" /><Relationship Type="http://schemas.openxmlformats.org/officeDocument/2006/relationships/notesMaster" Target="/ppt/notesMasters/notesMaster1.xml" Id="R25165a86bde44c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ca6baca3bc4d0f" /><Relationship Type="http://schemas.openxmlformats.org/officeDocument/2006/relationships/notesMaster" Target="/ppt/notesMasters/notesMaster1.xml" Id="Rac92c65c0b4a47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acec5ce9f148fc" /><Relationship Type="http://schemas.openxmlformats.org/officeDocument/2006/relationships/notesMaster" Target="/ppt/notesMasters/notesMaster1.xml" Id="Rb9791a729e034e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f0e2559f934fc6" /><Relationship Type="http://schemas.openxmlformats.org/officeDocument/2006/relationships/notesMaster" Target="/ppt/notesMasters/notesMaster1.xml" Id="R21c93496489d46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206c977f104540" /><Relationship Type="http://schemas.openxmlformats.org/officeDocument/2006/relationships/notesMaster" Target="/ppt/notesMasters/notesMaster1.xml" Id="R2064a6d81810446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156a3624b64e35" /><Relationship Type="http://schemas.openxmlformats.org/officeDocument/2006/relationships/notesMaster" Target="/ppt/notesMasters/notesMaster1.xml" Id="Rb32929f2c89941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7bd1112d9945ee" /><Relationship Type="http://schemas.openxmlformats.org/officeDocument/2006/relationships/notesMaster" Target="/ppt/notesMasters/notesMaster1.xml" Id="R64d1d626631142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2739fdd33d40dc" /><Relationship Type="http://schemas.openxmlformats.org/officeDocument/2006/relationships/notesMaster" Target="/ppt/notesMasters/notesMaster1.xml" Id="Rcd0238695c5946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f2dbad6c7a045b2" /><Relationship Type="http://schemas.openxmlformats.org/officeDocument/2006/relationships/notesMaster" Target="/ppt/notesMasters/notesMaster1.xml" Id="Rd4cd5ae7d05d49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15119d84da14ab8" /><Relationship Type="http://schemas.openxmlformats.org/officeDocument/2006/relationships/notesMaster" Target="/ppt/notesMasters/notesMaster1.xml" Id="Rce647173b20147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03f0d62d8044cd" /><Relationship Type="http://schemas.openxmlformats.org/officeDocument/2006/relationships/notesMaster" Target="/ppt/notesMasters/notesMaster1.xml" Id="R5e0def53b01048c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fa6c155e5f44432" /><Relationship Type="http://schemas.openxmlformats.org/officeDocument/2006/relationships/notesMaster" Target="/ppt/notesMasters/notesMaster1.xml" Id="R686916323807419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527b7109a844a46" /><Relationship Type="http://schemas.openxmlformats.org/officeDocument/2006/relationships/notesMaster" Target="/ppt/notesMasters/notesMaster1.xml" Id="Rdb992532bd62481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3e2768a971c4916" /><Relationship Type="http://schemas.openxmlformats.org/officeDocument/2006/relationships/notesMaster" Target="/ppt/notesMasters/notesMaster1.xml" Id="Re0c68ab0682543a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5e949b489454c7c" /><Relationship Type="http://schemas.openxmlformats.org/officeDocument/2006/relationships/notesMaster" Target="/ppt/notesMasters/notesMaster1.xml" Id="Re600ad3990fb4eb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e6322ca3efe4eb6" /><Relationship Type="http://schemas.openxmlformats.org/officeDocument/2006/relationships/notesMaster" Target="/ppt/notesMasters/notesMaster1.xml" Id="R66cc20ce529044c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dd39820077c4da5" /><Relationship Type="http://schemas.openxmlformats.org/officeDocument/2006/relationships/notesMaster" Target="/ppt/notesMasters/notesMaster1.xml" Id="R20a6c22c3a7a46f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ab57737f3114fac" /><Relationship Type="http://schemas.openxmlformats.org/officeDocument/2006/relationships/notesMaster" Target="/ppt/notesMasters/notesMaster1.xml" Id="Rbf5349956a38493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afcad68dddf430c" /><Relationship Type="http://schemas.openxmlformats.org/officeDocument/2006/relationships/notesMaster" Target="/ppt/notesMasters/notesMaster1.xml" Id="R0c6620d8154945f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d72d23bec6b43eb" /><Relationship Type="http://schemas.openxmlformats.org/officeDocument/2006/relationships/notesMaster" Target="/ppt/notesMasters/notesMaster1.xml" Id="R605ef8657e4041a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7dd6b6398194866" /><Relationship Type="http://schemas.openxmlformats.org/officeDocument/2006/relationships/notesMaster" Target="/ppt/notesMasters/notesMaster1.xml" Id="Rc84a59af0b004eb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77efa15d67442e9" /><Relationship Type="http://schemas.openxmlformats.org/officeDocument/2006/relationships/notesMaster" Target="/ppt/notesMasters/notesMaster1.xml" Id="R7ac040e1dfa34a0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a5c0f17dc3347a6" /><Relationship Type="http://schemas.openxmlformats.org/officeDocument/2006/relationships/notesMaster" Target="/ppt/notesMasters/notesMaster1.xml" Id="Rb916ab9402c44ec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0d726f16cc44e9b" /><Relationship Type="http://schemas.openxmlformats.org/officeDocument/2006/relationships/notesMaster" Target="/ppt/notesMasters/notesMaster1.xml" Id="R71f1eba8c0264db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b8d936a91d042e4" /><Relationship Type="http://schemas.openxmlformats.org/officeDocument/2006/relationships/notesMaster" Target="/ppt/notesMasters/notesMaster1.xml" Id="R2524e0e7400446a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4840a3b0a5a4763" /><Relationship Type="http://schemas.openxmlformats.org/officeDocument/2006/relationships/notesMaster" Target="/ppt/notesMasters/notesMaster1.xml" Id="Rf93c323d905b450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aaf1f1524a2431d" /><Relationship Type="http://schemas.openxmlformats.org/officeDocument/2006/relationships/notesMaster" Target="/ppt/notesMasters/notesMaster1.xml" Id="R8562cd35600743a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10eb7687f2d4a45" /><Relationship Type="http://schemas.openxmlformats.org/officeDocument/2006/relationships/notesMaster" Target="/ppt/notesMasters/notesMaster1.xml" Id="R434060e11a0e47a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197beead0d447ab" /><Relationship Type="http://schemas.openxmlformats.org/officeDocument/2006/relationships/notesMaster" Target="/ppt/notesMasters/notesMaster1.xml" Id="Rde332c8ba8e5493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0f16e54df52469c" /><Relationship Type="http://schemas.openxmlformats.org/officeDocument/2006/relationships/notesMaster" Target="/ppt/notesMasters/notesMaster1.xml" Id="Rf245327a08ce43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/Users/dracon/posture-belt/master_context.md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>The cover is a compact conceptual walkthrough, not an execution-order assertion. Adaptive controllers feed the next local sample. Current hardware is the phone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>/Users/dracon/posture-belt/master_context.md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/Users/dracon/posture-belt/services/imuService.ts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/Users/dracon/posture-belt/processing/orientation.ts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/Users/dracon/posture-belt/processing/orientation.ts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>dt is (timestamp-lastTimestamp)/1000. Invalid intervals rebase lastTimestamp and return. gz is acquired but not used for pitch/roll.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/Users/dracon/posture-belt/processing/orientation.ts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/Users/dracon/posture-belt/processing/orientation.ts</a:t>
            </a:r>
          </a:p>
          <a:p xmlns:a="http://schemas.openxmlformats.org/drawingml/2006/main">
            <a:r>
              <a:t>/Users/dracon/posture-belt/master_context.md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/Users/dracon/posture-belt/processing/calibration.ts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>Confidence = mean(max(0,1-pitchStd/4),max(0,1-rollStd/4))*100. It is an engineering variability indicator, not clinical 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/Users/dracon/posture-belt/processing/calibration.ts</a:t>
            </a:r>
          </a:p>
          <a:p xmlns:a="http://schemas.openxmlformats.org/drawingml/2006/main">
            <a:r>
              <a:t>/Users/dracon/posture-belt/services/calibrationStorage.ts</a:t>
            </a:r>
          </a:p>
          <a:p xmlns:a="http://schemas.openxmlformats.org/drawingml/2006/main">
            <a:r>
              <a:t>/Users/dracon/posture-belt/services/calibrationStorageModel.ts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/Users/dracon/posture-belt/processing/deviation.ts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/Users/dracon/posture-belt/processing/deviation.ts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>/Users/dracon/posture-belt/models/postureModel.ts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/Users/dracon/posture-belt/processing/stability.ts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/Users/dracon/posture-belt/processing/persistence.ts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/Users/dracon/posture-belt/processing/orientation.ts</a:t>
            </a:r>
          </a:p>
          <a:p xmlns:a="http://schemas.openxmlformats.org/drawingml/2006/main">
            <a:r>
              <a:t>/Users/dracon/posture-belt/processing/deviation.ts</a:t>
            </a:r>
          </a:p>
          <a:p xmlns:a="http://schemas.openxmlformats.org/drawingml/2006/main">
            <a:r>
              <a:t>/Users/dracon/posture-belt/processing/stability.ts</a:t>
            </a:r>
          </a:p>
          <a:p xmlns:a="http://schemas.openxmlformats.org/drawingml/2006/main">
            <a:r>
              <a:t>/Users/dracon/posture-belt/processing/persistence.ts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/Users/dracon/posture-belt/processing/feedback.ts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>/Users/dracon/posture-belt/processing/adaptiveFeedback.ts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/Users/dracon/posture-belt/services/hapticService.ts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/Users/dracon/posture-belt/processing/correctionResponse.ts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>Timestamps are milliseconds. ResponseTime is seconds. The result is frozen until a new observation/reset. App records initial/final max-axis deviation, direction, timestamps and response time exactly once.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/Users/dracon/posture-belt/processing/adaptiveFeedback.ts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/Users/dracon/posture-belt/processing/adaptiveFeedback.ts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/Users/dracon/posture-belt/processing/adaptiveThreshold.ts</a:t>
            </a:r>
          </a:p>
          <a:p xmlns:a="http://schemas.openxmlformats.org/drawingml/2006/main">
            <a:r>
              <a:t>/Users/dracon/posture-belt/processing/adaptiveThresholdFeatures.ts</a:t>
            </a:r>
          </a:p>
          <a:p xmlns:a="http://schemas.openxmlformats.org/drawingml/2006/main">
            <a:r>
              <a:t>/Users/dracon/posture-belt/master_context.md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/Users/dracon/posture-belt/processing/adaptiveThresholdFeatures.ts</a:t>
            </a:r>
          </a:p>
          <a:p xmlns:a="http://schemas.openxmlformats.org/drawingml/2006/main">
            <a:r>
              <a:t>/Users/dracon/posture-belt/processing/adaptiveThreshold.ts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/Users/dracon/posture-belt/processing/adaptiveThresholdFeatures.ts</a:t>
            </a:r>
          </a:p>
          <a:p xmlns:a="http://schemas.openxmlformats.org/drawingml/2006/main">
            <a:r>
              <a:t>/Users/dracon/posture-belt/master_context.md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/Users/dracon/posture-belt/processing/adaptiveThresholdFeatures.ts</a:t>
            </a:r>
          </a:p>
          <a:p xmlns:a="http://schemas.openxmlformats.org/drawingml/2006/main">
            <a:r>
              <a:t>/Users/dracon/posture-belt/processing/adaptiveThresholdConfig.ts</a:t>
            </a:r>
          </a:p>
          <a:p xmlns:a="http://schemas.openxmlformats.org/drawingml/2006/main">
            <a:r>
              <a:t>All time units in alpha are consistent (milliseconds). First valid EMA sample initializes its value. Non-increasing timestamps retain the prior value. DEMO is accelerated and not final production tuning.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/Users/dracon/posture-belt/processing/adaptiveThreshold.ts</a:t>
            </a:r>
          </a:p>
          <a:p xmlns:a="http://schemas.openxmlformats.org/drawingml/2006/main">
            <a:r>
              <a:t>/Users/dracon/posture-belt/processing/adaptiveThresholdConfig.ts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/Users/dracon/posture-belt/processing/adaptiveThreshold.ts</a:t>
            </a:r>
          </a:p>
          <a:p xmlns:a="http://schemas.openxmlformats.org/drawingml/2006/main">
            <a:r>
              <a:t>/Users/dracon/posture-belt/processing/adaptiveThresholdConfig.ts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>Target=3*clamp01((evidenceEma-0.30)/(1-0.30)). Rate limit moves current toward target. The App classifies with the current adjustments before updating the controller, so new state applies to a subsequent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/Users/dracon/posture-belt/processing/adaptiveThreshold.ts</a:t>
            </a:r>
          </a:p>
          <a:p xmlns:a="http://schemas.openxmlformats.org/drawingml/2006/main">
            <a:r>
              <a:t>/Users/dracon/posture-belt/processing/adaptiveThresholdConfig.ts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/Users/dracon/posture-belt/processing/adaptiveThreshold.ts</a:t>
            </a:r>
          </a:p>
          <a:p xmlns:a="http://schemas.openxmlformats.org/drawingml/2006/main">
            <a:r>
              <a:t>/Users/dracon/posture-belt/test/adaptiveThreshold.test.mjs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/Users/dracon/posture-belt/processing/sessionRecorder.ts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>Session has no nested metrics field. SessionUpload adds metrics when sending the completed object. Stored sample overallDeviation is a numeric maximum of axis deviation, unlike the detector Boolean of the same name.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/Users/dracon/posture-belt/processing/performanceMetrics.ts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/Users/dracon/posture-belt/processing/performanceMetrics.ts</a:t>
            </a:r>
          </a:p>
          <a:p xmlns:a="http://schemas.openxmlformats.org/drawingml/2006/main">
            <a:r>
              <a:t>/Users/dracon/posture-belt/processing/sessionRecorder.ts</a:t>
            </a:r>
          </a:p>
          <a:p xmlns:a="http://schemas.openxmlformats.org/drawingml/2006/main">
            <a:r>
              <a:t>/Users/dracon/posture-belt/ui/sessionAnalytics.ts</a:t>
            </a:r>
          </a:p>
          <a:p xmlns:a="http://schemas.openxmlformats.org/drawingml/2006/main">
            <a:r>
              <a:t>/Users/dracon/posture-belt/ui/historyGrouping.ts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>/Users/dracon/posture-belt/services/apiService.ts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/Users/dracon/posture-belt/backend/src/server.ts</a:t>
            </a:r>
          </a:p>
          <a:p xmlns:a="http://schemas.openxmlformats.org/drawingml/2006/main">
            <a:r>
              <a:t>/Users/dracon/posture-belt/backend/src/routes/sessions.ts</a:t>
            </a:r>
          </a:p>
          <a:p xmlns:a="http://schemas.openxmlformats.org/drawingml/2006/main">
            <a:r>
              <a:t>/Users/dracon/posture-belt/backend/src/database.ts</a:t>
            </a:r>
          </a:p>
          <a:p xmlns:a="http://schemas.openxmlformats.org/drawingml/2006/main">
            <a:r>
              <a:t>/Users/dracon/posture-belt/services/apiService.ts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/Users/dracon/posture-belt/backend/src/analytics.ts</a:t>
            </a:r>
          </a:p>
          <a:p xmlns:a="http://schemas.openxmlformats.org/drawingml/2006/main">
            <a:r>
              <a:t>/Users/dracon/posture-belt/backend/src/routes/metrics.ts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/Users/dracon/posture-belt/ui/sessionAnalytics.ts</a:t>
            </a:r>
          </a:p>
          <a:p xmlns:a="http://schemas.openxmlformats.org/drawingml/2006/main">
            <a:r>
              <a:t>/Users/dracon/posture-belt/components/SessionResultsDashboard.tsx</a:t>
            </a:r>
          </a:p>
          <a:p xmlns:a="http://schemas.openxmlformats.org/drawingml/2006/main">
            <a:r>
              <a:t>/Users/dracon/posture-belt/master_context.md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/Users/dracon/posture-belt/ui/historyGrouping.ts</a:t>
            </a:r>
          </a:p>
          <a:p xmlns:a="http://schemas.openxmlformats.org/drawingml/2006/main">
            <a:r>
              <a:t>/Users/dracon/posture-belt/components/HistoricalAnalyticsDashboard.tsx</a:t>
            </a:r>
          </a:p>
          <a:p xmlns:a="http://schemas.openxmlformats.org/drawingml/2006/main">
            <a:r>
              <a:t>Daily charts show session consistency,duration,feedback,completed corrections,mean response. Direction and time-of-day usage summarize the whole day. Chart pages have six sessions but aggregate totals include every session. Poor duration is unavailable from trend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/Users/dracon/posture-belt/ui/historyGrouping.ts</a:t>
            </a:r>
          </a:p>
          <a:p xmlns:a="http://schemas.openxmlformats.org/drawingml/2006/main">
            <a:r>
              <a:t>/Users/dracon/posture-belt/components/HistoricalAnalyticsDashboard.tsx</a:t>
            </a:r>
          </a:p>
          <a:p xmlns:a="http://schemas.openxmlformats.org/drawingml/2006/main">
            <a:r>
              <a:t>Charts: daily consistency,duration,feedback,completed corrections,mean correction time,good-time/poor-unavailable chart and weekly direction. Poor time is explicitly unavailable. Correction average weights session means by completed correction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/Users/dracon/posture-belt/ui/historyGrouping.ts</a:t>
            </a:r>
          </a:p>
          <a:p xmlns:a="http://schemas.openxmlformats.org/drawingml/2006/main">
            <a:r>
              <a:t>/Users/dracon/posture-belt/backend/src/analytics.ts</a:t>
            </a:r>
          </a:p>
          <a:p xmlns:a="http://schemas.openxmlformats.org/drawingml/2006/main">
            <a:r>
              <a:t>Illustrative example requested by the user. Session A: 10min at90%=9min good. B:100min at60%=60min good. Total69/110=62.727%. These are not collected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/Users/dracon/posture-belt/master_context.md</a:t>
            </a:r>
          </a:p>
          <a:p xmlns:a="http://schemas.openxmlformats.org/drawingml/2006/main">
            <a:r>
              <a:t>/Users/dracon/posture-belt/ui/historyGrouping.ts</a:t>
            </a:r>
          </a:p>
          <a:p xmlns:a="http://schemas.openxmlformats.org/drawingml/2006/main">
            <a:r>
              <a:t>/Users/dracon/posture-belt/ui/sessionAnalytics.ts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/Users/dracon/posture-belt/docs/final_validation_matrix_and_hardware_protocol.md</a:t>
            </a:r>
          </a:p>
          <a:p xmlns:a="http://schemas.openxmlformats.org/drawingml/2006/main">
            <a:r>
              <a:t>/Users/dracon/posture-belt/master_context.md</a:t>
            </a:r>
          </a:p>
          <a:p xmlns:a="http://schemas.openxmlformats.org/drawingml/2006/main">
            <a:r>
              <a:t>/Users/dracon/posture-belt/test/adaptiveSystemEvaluation.test.mjs</a:t>
            </a:r>
          </a:p>
          <a:p xmlns:a="http://schemas.openxmlformats.org/drawingml/2006/main">
            <a:r>
              <a:t>/Users/dracon/posture-belt/test/historyAnalytics.test.mjs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snapshot: ff437ef, inspected 5 October 2026.</a:t>
            </a:r>
          </a:p>
          <a:p xmlns:a="http://schemas.openxmlformats.org/drawingml/2006/main">
            <a:r>
              <a:t>/Users/dracon/posture-belt/App.tsx</a:t>
            </a:r>
          </a:p>
          <a:p xmlns:a="http://schemas.openxmlformats.org/drawingml/2006/main">
            <a:r>
              <a:t>/Users/dracon/posture-belt/master_context.md</a:t>
            </a:r>
          </a:p>
          <a:p xmlns:a="http://schemas.openxmlformats.org/drawingml/2006/main">
            <a:r>
              <a:t>/Users/dracon/posture-belt/ui/historyGrouping.ts</a:t>
            </a:r>
          </a:p>
          <a:p xmlns:a="http://schemas.openxmlformats.org/drawingml/2006/main">
            <a:r>
              <a:t>This is a conceptual overview of data dependencies. Adaptive feedback and adaptive threshold are independent branches, not a serial feed-forward chain. Session recording runs alongside live processing. The backend summary aggregates JSON. Daily and Weekly use compact trends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2b73cdcee4f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dccd499e3c480d" /><Relationship Type="http://schemas.openxmlformats.org/officeDocument/2006/relationships/slideLayout" Target="/ppt/slideLayouts/slideLayout1.xml" Id="R30d74a436f4a41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d74a436f4a41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adf98637641a2" /><Relationship Type="http://schemas.openxmlformats.org/officeDocument/2006/relationships/notesSlide" Target="/ppt/notesSlides/notesSlide1.xml" Id="Re259ad554f254f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b5b0d6e094975" /><Relationship Type="http://schemas.openxmlformats.org/officeDocument/2006/relationships/notesSlide" Target="/ppt/notesSlides/notesSlide2.xml" Id="Rb5f4c03b84fd43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998ef498d4952" /><Relationship Type="http://schemas.openxmlformats.org/officeDocument/2006/relationships/notesSlide" Target="/ppt/notesSlides/notesSlide3.xml" Id="Rb64d0b61c27745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6ea079b5645bb" /><Relationship Type="http://schemas.openxmlformats.org/officeDocument/2006/relationships/notesSlide" Target="/ppt/notesSlides/notesSlide4.xml" Id="R086a6f94a12f48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dbdfb095a45cd" /><Relationship Type="http://schemas.openxmlformats.org/officeDocument/2006/relationships/notesSlide" Target="/ppt/notesSlides/notesSlide5.xml" Id="R76b42383896e49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a3146925543fc" /><Relationship Type="http://schemas.openxmlformats.org/officeDocument/2006/relationships/notesSlide" Target="/ppt/notesSlides/notesSlide6.xml" Id="Ra7811aa4525644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31b9dd0cc4eb8" /><Relationship Type="http://schemas.openxmlformats.org/officeDocument/2006/relationships/notesSlide" Target="/ppt/notesSlides/notesSlide7.xml" Id="R09289aec1cee46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523865b1744b2" /><Relationship Type="http://schemas.openxmlformats.org/officeDocument/2006/relationships/notesSlide" Target="/ppt/notesSlides/notesSlide8.xml" Id="Re282221ae2214d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22b9bee254e57" /><Relationship Type="http://schemas.openxmlformats.org/officeDocument/2006/relationships/notesSlide" Target="/ppt/notesSlides/notesSlide9.xml" Id="R0695a3b7e7844c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5abbdaacf43bf" /><Relationship Type="http://schemas.openxmlformats.org/officeDocument/2006/relationships/notesSlide" Target="/ppt/notesSlides/notesSlide10.xml" Id="R29cb222540b241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0a318f36c4562" /><Relationship Type="http://schemas.openxmlformats.org/officeDocument/2006/relationships/notesSlide" Target="/ppt/notesSlides/notesSlide11.xml" Id="R4ed9e031bdea4f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cb36c3f7445ca" /><Relationship Type="http://schemas.openxmlformats.org/officeDocument/2006/relationships/notesSlide" Target="/ppt/notesSlides/notesSlide12.xml" Id="Re6a56a2e0fb443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f81a714194287" /><Relationship Type="http://schemas.openxmlformats.org/officeDocument/2006/relationships/notesSlide" Target="/ppt/notesSlides/notesSlide13.xml" Id="Rc9485130feb048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3df9ce71f414c" /><Relationship Type="http://schemas.openxmlformats.org/officeDocument/2006/relationships/notesSlide" Target="/ppt/notesSlides/notesSlide14.xml" Id="R971dd74d7df241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29acef7914a45" /><Relationship Type="http://schemas.openxmlformats.org/officeDocument/2006/relationships/notesSlide" Target="/ppt/notesSlides/notesSlide15.xml" Id="R9bff7a54b71349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2cb5fedba4533" /><Relationship Type="http://schemas.openxmlformats.org/officeDocument/2006/relationships/notesSlide" Target="/ppt/notesSlides/notesSlide16.xml" Id="R9e1e89eca6884e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0a97d1e114a09" /><Relationship Type="http://schemas.openxmlformats.org/officeDocument/2006/relationships/notesSlide" Target="/ppt/notesSlides/notesSlide17.xml" Id="Rd8cfcbae87024e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2c6eb77da4ae9" /><Relationship Type="http://schemas.openxmlformats.org/officeDocument/2006/relationships/notesSlide" Target="/ppt/notesSlides/notesSlide18.xml" Id="R730524123e164c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7d9d6e70f47da" /><Relationship Type="http://schemas.openxmlformats.org/officeDocument/2006/relationships/notesSlide" Target="/ppt/notesSlides/notesSlide19.xml" Id="R3465a26f78ef4a1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f702e894d40b8" /><Relationship Type="http://schemas.openxmlformats.org/officeDocument/2006/relationships/notesSlide" Target="/ppt/notesSlides/notesSlide20.xml" Id="R14e35f6c002a4e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6902d40014a2b" /><Relationship Type="http://schemas.openxmlformats.org/officeDocument/2006/relationships/notesSlide" Target="/ppt/notesSlides/notesSlide21.xml" Id="Rf7a477009393401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d2e5a9f684024" /><Relationship Type="http://schemas.openxmlformats.org/officeDocument/2006/relationships/notesSlide" Target="/ppt/notesSlides/notesSlide22.xml" Id="Rb9a7505984e44ce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aaa09185b48f8" /><Relationship Type="http://schemas.openxmlformats.org/officeDocument/2006/relationships/notesSlide" Target="/ppt/notesSlides/notesSlide23.xml" Id="R3c3bb8cd93cd41b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c4e7201004b15" /><Relationship Type="http://schemas.openxmlformats.org/officeDocument/2006/relationships/notesSlide" Target="/ppt/notesSlides/notesSlide24.xml" Id="R53d8e7154195481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ab2cfbfa44c69" /><Relationship Type="http://schemas.openxmlformats.org/officeDocument/2006/relationships/notesSlide" Target="/ppt/notesSlides/notesSlide25.xml" Id="Ra4bbf8ac381243d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8f8759f174b33" /><Relationship Type="http://schemas.openxmlformats.org/officeDocument/2006/relationships/notesSlide" Target="/ppt/notesSlides/notesSlide26.xml" Id="R4fcbbe94eaa341e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c898e1cdc4161" /><Relationship Type="http://schemas.openxmlformats.org/officeDocument/2006/relationships/notesSlide" Target="/ppt/notesSlides/notesSlide27.xml" Id="R8471df53546643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69a69da02450c" /><Relationship Type="http://schemas.openxmlformats.org/officeDocument/2006/relationships/notesSlide" Target="/ppt/notesSlides/notesSlide28.xml" Id="R82d47da0d925417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ae1add938476e" /><Relationship Type="http://schemas.openxmlformats.org/officeDocument/2006/relationships/notesSlide" Target="/ppt/notesSlides/notesSlide29.xml" Id="R81836c5d94914d5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a8b4c2af4470b" /><Relationship Type="http://schemas.openxmlformats.org/officeDocument/2006/relationships/notesSlide" Target="/ppt/notesSlides/notesSlide30.xml" Id="Rb2be2fe198204c5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cb5809e59412e" /><Relationship Type="http://schemas.openxmlformats.org/officeDocument/2006/relationships/notesSlide" Target="/ppt/notesSlides/notesSlide31.xml" Id="R1f74fdda6043493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633cf1d37449f" /><Relationship Type="http://schemas.openxmlformats.org/officeDocument/2006/relationships/notesSlide" Target="/ppt/notesSlides/notesSlide32.xml" Id="R310a025a3c4f451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a2e0482e048f5" /><Relationship Type="http://schemas.openxmlformats.org/officeDocument/2006/relationships/notesSlide" Target="/ppt/notesSlides/notesSlide33.xml" Id="Rb36a6626220d427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f039df5034bf8" /><Relationship Type="http://schemas.openxmlformats.org/officeDocument/2006/relationships/notesSlide" Target="/ppt/notesSlides/notesSlide34.xml" Id="R40e48a2bc028499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12cb8cfee4a6e" /><Relationship Type="http://schemas.openxmlformats.org/officeDocument/2006/relationships/notesSlide" Target="/ppt/notesSlides/notesSlide35.xml" Id="R7b1ce59bcdfe40c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abc6471274a63" /><Relationship Type="http://schemas.openxmlformats.org/officeDocument/2006/relationships/notesSlide" Target="/ppt/notesSlides/notesSlide36.xml" Id="R3c4ad54449364a1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32d689fc34f5a" /><Relationship Type="http://schemas.openxmlformats.org/officeDocument/2006/relationships/notesSlide" Target="/ppt/notesSlides/notesSlide37.xml" Id="Rbd0464f372624aa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935c1de1c41c3" /><Relationship Type="http://schemas.openxmlformats.org/officeDocument/2006/relationships/notesSlide" Target="/ppt/notesSlides/notesSlide38.xml" Id="R7ae7ff29c7f0447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d057e8bb742bc" /><Relationship Type="http://schemas.openxmlformats.org/officeDocument/2006/relationships/notesSlide" Target="/ppt/notesSlides/notesSlide39.xml" Id="R4f9eb3321181402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0c7eb20da41e0" /><Relationship Type="http://schemas.openxmlformats.org/officeDocument/2006/relationships/notesSlide" Target="/ppt/notesSlides/notesSlide40.xml" Id="Rf4bc76a97c59431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2625672d845a6" /><Relationship Type="http://schemas.openxmlformats.org/officeDocument/2006/relationships/notesSlide" Target="/ppt/notesSlides/notesSlide41.xml" Id="R9c210654203b48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ECDCC4-E871-4992-ADB7-E5155599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668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PJT-I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2E75D-DC79-4BFF-973F-8FD60521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955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Personalized Adaptive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Posture Correction Belt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C212A-157D-4D4C-86A5-D0421406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8155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rPr>
              <a:t>End-to-End Technical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D5639-C598-4C97-B733-558BF1EC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579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DD1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DD1DB"/>
                </a:solidFill>
                <a:latin typeface="Helvetica Neue"/>
                <a:ea typeface="Helvetica Neue"/>
                <a:cs typeface="Helvetica Neue"/>
              </a:rPr>
              <a:t>Technical project review</a:t>
            </a:r>
          </a:p>
          <a:p xmlns:a="http://schemas.openxmlformats.org/drawingml/2006/main">
            <a:pPr algn="l">
              <a:defRPr sz="2025" b="0">
                <a:solidFill>
                  <a:srgbClr val="BDD1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DD1DB"/>
                </a:solidFill>
                <a:latin typeface="Helvetica Neue"/>
                <a:ea typeface="Helvetica Neue"/>
                <a:cs typeface="Helvetica Neue"/>
              </a:rPr>
              <a:t>Current phone / Expo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7F12D-0FDB-463A-82CB-5192CBBA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52550"/>
            <a:ext cx="404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511CE-4672-4F9C-9F03-8FB583FB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28800"/>
            <a:ext cx="404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4949D-6641-4A47-8942-63F1AC5B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05050"/>
            <a:ext cx="404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Filtering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23DB7-E457-45B2-95EC-AC841381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81300"/>
            <a:ext cx="404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Calibration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3B11D-BE85-43DB-8324-8DFD6414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57550"/>
            <a:ext cx="404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Deviation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D80CE-2E5B-48DE-9B45-014F7EAF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33800"/>
            <a:ext cx="404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F983E-07C2-4597-873C-E7E85043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10050"/>
            <a:ext cx="404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Persistence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58B12-EE30-46E5-A7F2-3B0FC199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86300"/>
            <a:ext cx="404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470A9-C2F0-4E59-B9EB-EE797473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62550"/>
            <a:ext cx="404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Correction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BCB11-487B-4691-9016-D5363815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38800"/>
            <a:ext cx="404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B7BB1-1862-4F35-BEA1-A0E2CB98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115050"/>
            <a:ext cx="404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Session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66B8B-C55A-4DBB-AEC4-61F5836A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91300"/>
            <a:ext cx="404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Daily / Weekly 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CCE90-55E6-4ECB-9A93-FF432049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169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A13FE-DA30-491E-A743-29E6F68B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1717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B1098-A9D3-4DE1-B3B3-3B28FA43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6479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8AA433-1B2A-41A6-86F6-7821FAAA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3124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94FFC-8DC4-4AB4-ADCF-7DA5AA64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3600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7EEAC8-6CE9-4895-9CD8-857E9E05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767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57AC7-42A5-4E0D-9911-7E8AA0B8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5529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E270F-F772-471D-87AC-D5B8C4F1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029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C2872B-8BE4-4309-B7D2-3C555173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505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EC7069-F0D4-4896-A0F6-05C709DE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9817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A1CF5-A979-407C-8F75-31D05A1A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4579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EE0D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511399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66125F-8667-4207-A32F-AF6872A7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System pipeline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A9160-9D47-4AD5-98D4-F18ACCAB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Local posture decisions, session-local adaptation and asynchronous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90FB7-1035-426D-A5C1-7540F8D8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31E52-4C43-43DD-95F5-2EB0B972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REAL-TIME DEVICE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DB589-51F8-4515-B64D-6E110720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05125"/>
            <a:ext cx="1502569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Raw IMU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EDA02-A92D-43B1-A213-A17CD781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794" y="2905125"/>
            <a:ext cx="1502569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Orientation</a:t>
            </a:r>
          </a:p>
          <a:p xmlns:a="http://schemas.openxmlformats.org/drawingml/2006/main">
            <a:pPr algn="ctr">
              <a:def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+ filter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006E8-38AD-4D90-BE2D-AB813D31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2905125"/>
            <a:ext cx="1502569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Body</a:t>
            </a:r>
          </a:p>
          <a:p xmlns:a="http://schemas.openxmlformats.org/drawingml/2006/main">
            <a:pPr algn="ctr">
              <a:def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mapping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9770F-A1D8-48C3-8987-58662983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131" y="2905125"/>
            <a:ext cx="1502569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Calibrated</a:t>
            </a:r>
          </a:p>
          <a:p xmlns:a="http://schemas.openxmlformats.org/drawingml/2006/main">
            <a:pPr algn="ctr">
              <a:def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1EB36-9428-49B8-A0D1-5059123A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05125"/>
            <a:ext cx="1502569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Deviation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DA35F-71F7-4CF6-B7E2-34E9F4AB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469" y="2905125"/>
            <a:ext cx="1502569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Stability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37A24-6635-4436-897C-85E2BA43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2905125"/>
            <a:ext cx="1502569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Persistence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2B917-3A2C-44E6-B894-2FD6CB03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806" y="2905125"/>
            <a:ext cx="1502569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cxnSp>
        <p:nvCxnSpPr>
          <p:cNvPr id="4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12194" y="32766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43363" y="32766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74532" y="3276600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05700" y="32766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36869" y="32766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968038" y="32766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2699207" y="3276600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A8017-6E48-4BAD-AA98-C7B8246D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148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LOCAL ADAPTATION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DE799-126B-4B77-96BF-18F82F19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14875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Completed corrections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F67CCF-0A8E-462F-9FEB-63C31BF2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514850"/>
            <a:ext cx="904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Response history → adaptive feedback → eligible haptics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E4464B-4DAB-4520-BDFD-14983107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305425"/>
            <a:ext cx="904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Posture + corrections → features / EMA → next threshold</a:t>
            </a:r>
          </a:p>
        </p:txBody>
      </p:sp>
      <p:cxnSp>
        <p:nvCxnSpPr>
          <p:cNvPr id="5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4238625" y="4810125"/>
            <a:ext cx="11430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238625" y="5067300"/>
            <a:ext cx="114300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B25DD9-BA0C-45C6-8FA3-2A70CD50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2457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ASYNCHRONOUS COMPLETED-SESSION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9EE60-155A-4C7F-983F-C138C90E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81775"/>
            <a:ext cx="4387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Session + metrics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4B7843-0AD9-4FA2-9735-0561F832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075" y="6581775"/>
            <a:ext cx="4387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Express / SQLite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E4A11D-CC51-4987-9995-85BC8776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25" y="6581775"/>
            <a:ext cx="4387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Session detail or Daily / Weekly</a:t>
            </a:r>
          </a:p>
        </p:txBody>
      </p:sp>
      <p:cxnSp>
        <p:nvCxnSpPr>
          <p:cNvPr id="62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197475" y="6953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96613"/>
            </a:solidFill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813925" y="6953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96613"/>
            </a:solidFill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1AEE73-95F8-42E4-B05E-F26DD10E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9525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Adaptive threshold feeds future deviation checks. Backend/database is outside the real-time loop.</a:t>
            </a:r>
          </a:p>
        </p:txBody>
      </p:sp>
    </p:spTree>
    <p:extLst>
      <p:ext uri="{BB962C8B-B14F-4D97-AF65-F5344CB8AC3E}">
        <p14:creationId xmlns:p14="http://schemas.microsoft.com/office/powerpoint/2010/main" val="1727057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82A17-15B9-41E2-8993-FA4A3360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Raw IMU acquisition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67AFD-CEB9-4452-AF20-D0E3D29A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Acceleration and angular velocity provide the sensor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4C9F5-D55E-4B6A-AD3F-FA12CBA5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A3B95-3560-469C-8EAD-2DE7BA62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5270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ACCELEROMETER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5A4F3-9B11-4BC0-B650-22967F81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6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aₓ, aᵧ, 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966FC-3C16-4D9A-A7E7-97D383E5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52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GYROSCOPE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163FC-9418-4E89-8A0C-AB39CC90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gₓ, gᵧ, gz  [rad/s]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0E6E0-C1A1-40E7-BB05-9D835B4A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95800"/>
            <a:ext cx="1238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≈ 50 Hz target     Δt ≈ 20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7942D-8A52-4E87-A6AB-25F3F262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Accelerometer callback   →   Latest cached gyro + Date.now()   →   Timestamped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12FB3-7AB8-41B0-9C54-642DF65E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4C93F-79E2-45FE-9611-E542457A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Consistent mounting. Callback cadence varies with the device.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CCB3E-8D3E-4AFA-AED3-3011C9D4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Raw IMU values are measurements, not direct posture angles.</a:t>
            </a:r>
          </a:p>
        </p:txBody>
      </p:sp>
    </p:spTree>
    <p:extLst>
      <p:ext uri="{BB962C8B-B14F-4D97-AF65-F5344CB8AC3E}">
        <p14:creationId xmlns:p14="http://schemas.microsoft.com/office/powerpoint/2010/main" val="5195819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0C317-9EA5-40C6-8F77-AF95E51D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Accelerometer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74054-2144-41A6-AABD-AF80A883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Gravity provides the long-term orientation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F1473-A338-4E19-B196-9F07810B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A245C-5FC5-4C6C-B6B0-37CEF57D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P(acc) = atan2(−aₓ, √(aᵧ² + az²)) × 180/π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BBFE1-C4D9-4A0D-8903-A4A70B5E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R(acc) = atan2(aᵧ, az) × 180/π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3B24F-1719-4FCD-B517-0D3A02E8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Acceleration vector   →   Gravity-based angle estimate   →   Sensor pitch / roll in degrees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A2A9C-DC0E-4F82-BC8A-874832E0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40C06-192E-4BA7-B444-5BC1700D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Gravity must dominate the long-term signal. Linear acceleration disturbs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F8CFC-31AB-457B-A4CB-5517AA6D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Accelerometer orientation anchors the filter over time.</a:t>
            </a:r>
          </a:p>
        </p:txBody>
      </p:sp>
    </p:spTree>
    <p:extLst>
      <p:ext uri="{BB962C8B-B14F-4D97-AF65-F5344CB8AC3E}">
        <p14:creationId xmlns:p14="http://schemas.microsoft.com/office/powerpoint/2010/main" val="9876463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C491E-B048-413C-AE1A-C24BE680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Gyroscope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CEAEC-62B1-447E-9FC0-27BA124B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Angular velocity gives the fast orientation-change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46855-0606-4917-8DDB-2BF86D0E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4AF72-D63D-4892-B792-ED7615B9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P(gyro) = P(previous) + gᵧ × Δt × 180/π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B6F67-ACCC-45E6-A600-253313E8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R(gyro) = R(previous) + gₓ × Δt × 180/π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F7B70-394D-48C9-9AE1-92720A35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Gyro [rad/s] + elapsed seconds   →   Integration   →   Short-term sensor angles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91EC6-255B-45E8-80C0-35525E7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1C940-9F2D-4192-8368-F54DC1EA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App accepts 0 &lt; Δt ≤ 1 s. The first filtered state uses accelerometer angles.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E8419-D7A5-436D-BBAF-404209BA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Gyroscope responds quickly, but integration accumulates drift.</a:t>
            </a:r>
          </a:p>
        </p:txBody>
      </p:sp>
    </p:spTree>
    <p:extLst>
      <p:ext uri="{BB962C8B-B14F-4D97-AF65-F5344CB8AC3E}">
        <p14:creationId xmlns:p14="http://schemas.microsoft.com/office/powerpoint/2010/main" val="896600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BBD66-5F7E-45F5-A83A-464D6318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Complementary filter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80909-1DF3-4D3B-B1A8-C950E17D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Fuse fast gyro response with a long-term gravity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F1509-B246-40B7-AA56-FEA74603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8845C-EFB5-490F-BA60-07F27E12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Angle(t) = 0.98 × Angle(gyro) + 0.02 × Angle(acc)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D34A0-4386-416D-9C4B-B642D1A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Gyro angle + accelerometer angle   →   Weighted fusion   →   Filtered sensor pitch / roll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E21FC-C9D7-4B8B-BBE9-63969F6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814AB-E38C-4A43-A14E-B86E13C3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α = 0.98 is the implemented fixed filter coefficient.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43788-B988-4295-9431-DD3DC6EA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Short-term responsiveness and long-term reference coexist.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E4748-8326-4882-BF67-AABB24A2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33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Gyroscope 98%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42FBE-78D5-44BC-8570-81DB1762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333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Accelerometer 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8CD7F-5C33-4B73-86CC-43996814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4337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Fused orientation</a:t>
            </a:r>
          </a:p>
        </p:txBody>
      </p:sp>
      <p:cxnSp>
        <p:nvCxnSpPr>
          <p:cNvPr id="25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43375" y="4143375"/>
            <a:ext cx="60483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4143375" y="4572000"/>
            <a:ext cx="6048375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617445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526E3-44CD-4842-81D1-D22417B9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Sensor-to-body frame mapping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5FE2A-9E4B-4208-86CB-B4145805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Convert phone orientation into meaningful posture coordinates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F32C0-931F-49A6-842A-59C8C29D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B5549-1832-4BD6-9F61-28F2A2EE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BodyPitch = 90° − SensorRoll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59EBE-0314-401A-B0C5-F39F256A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BodyRoll = SensorPitch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FF733-9ED5-4EA4-83C2-EB80B78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Filtered sensor angles   →   Fixed frame mapping   →   Body pitch / roll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4595B-B143-42E7-A51F-752C36AC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FE555-19A3-4E6B-89E3-6E0A54E2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Current mounting is portrait and fixed. Belt mounting needs physical verification.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6A515-79B7-4CB4-A8F0-4454B772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The same body-frame convention governs calibration and correction.</a:t>
            </a:r>
          </a:p>
        </p:txBody>
      </p:sp>
    </p:spTree>
    <p:extLst>
      <p:ext uri="{BB962C8B-B14F-4D97-AF65-F5344CB8AC3E}">
        <p14:creationId xmlns:p14="http://schemas.microsoft.com/office/powerpoint/2010/main" val="9250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48118-65C8-4471-AA87-4D5811BF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Personalized calibration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314F2-5C8A-400D-A49B-929FAC6E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Learn the user’s natural comfortable upright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71D6F-4251-4CF8-9828-6B60BAD9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B7DB5-975C-43EC-B815-95B64A41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μₚ = (Σ Pᵢ) / n     μᵣ = (Σ Rᵢ) / 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8AD45-F3E3-490A-93D3-EA00A14A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σ = √[ Σ(xᵢ − μ)² / n 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B671A-A43C-4ED2-BBEF-2804AB5C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Natural upright samples   →   Mean + population standard deviation   →   Canonical posture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84196-B4C8-4476-9B27-5DE2504F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0077B-E91C-49A6-B818-5A64F560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Current collection: 30 s. Intended engineering range: 30–60 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6C40B-4080-46A2-9453-5DBF477E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Calibration learns a personal reference rather than universal zero.</a:t>
            </a:r>
          </a:p>
        </p:txBody>
      </p:sp>
    </p:spTree>
    <p:extLst>
      <p:ext uri="{BB962C8B-B14F-4D97-AF65-F5344CB8AC3E}">
        <p14:creationId xmlns:p14="http://schemas.microsoft.com/office/powerpoint/2010/main" val="1348315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47A54-7F4E-4C66-9A7F-3878FEA1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Calibration validity and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F2832-8D6F-4334-A576-A353E4BF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Validated canonical calibration survives application restart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F3442-2CDA-452A-ADF5-5C6C255B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BC8F2-D6E0-4042-9378-0277F291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43175"/>
            <a:ext cx="13620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20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n ≥ 100     σₚ ≤ 4°     σᵣ ≤ 4°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A9F25-BF1A-488F-988F-3139C7C0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Valid calibration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7D1C5-A5BE-45B2-A284-358C04CD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4000500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Versioned</a:t>
            </a:r>
          </a:p>
          <a:p xmlns:a="http://schemas.openxmlformats.org/drawingml/2006/main">
            <a:pPr algn="ctr">
              <a:def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AsyncStorage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76BD1-9993-47E2-A9C4-BC718ADA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00500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Load +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D44C1-4A59-4A6A-B3C1-21FEB583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4000500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Calibrated idle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43363" y="43719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05701" y="4371975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968038" y="43719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FC7D4-5846-4F69-9446-FE243E88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Explicit recalibration   →   Replace saved canonical model   →   New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7E248-4959-42B6-92CF-8DD18FA5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A00B4-8D03-4F4F-9E05-ED1D2C6E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No recalibration during monitoring or unresolved upload. Invalid storage requires calibration.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F3ABC-C042-4F74-B2E9-1E5AB5C8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Canonical calibration remains separate from session-local adaptive state.</a:t>
            </a:r>
          </a:p>
        </p:txBody>
      </p:sp>
    </p:spTree>
    <p:extLst>
      <p:ext uri="{BB962C8B-B14F-4D97-AF65-F5344CB8AC3E}">
        <p14:creationId xmlns:p14="http://schemas.microsoft.com/office/powerpoint/2010/main" val="502097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214B4-52EA-46A5-A2B8-F8321714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Personalized deviation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21526-B7C5-4D33-805B-4967F13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Evaluate current posture relative to canonical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69E5E-75B7-4A9D-98E4-9F157C7C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48A60-09D1-4CE3-8E57-5414D8B3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Dₚ = |P − μₚ|     Dᵣ = |R − μᵣ|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5D66A-FA96-4991-97EE-135B1422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PitchOutside = Dₚ &gt; Tₚ     RollOutside = Dᵣ &gt; Tᵣ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EE3EA-717E-4699-AC45-24415FB2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Body posture + baseline   →   Absolute deviation + threshold test   →   Outside flags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86A66-FD49-4158-84A3-A4CC03B2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4AC72-13F3-4617-B299-EA27038E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Overall deviation = PitchOutside OR RollOutside. Equality remains inside.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33D68-FDCD-4A77-9816-AF0D2BBB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The personalized reference stays fixed while effective tolerance can vary.</a:t>
            </a:r>
          </a:p>
        </p:txBody>
      </p:sp>
    </p:spTree>
    <p:extLst>
      <p:ext uri="{BB962C8B-B14F-4D97-AF65-F5344CB8AC3E}">
        <p14:creationId xmlns:p14="http://schemas.microsoft.com/office/powerpoint/2010/main" val="3204635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DC558-6C08-41BF-B97F-8E16120D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Canonical personalized threshold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6831A-5B08-4C52-8F98-20274E92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Combine minimum tolerance with each axis’s natural variability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5A0C7-AAA7-46A2-8878-EDA1A210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769BD-64FF-415C-84A6-3C664C64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Tₚ(canonical) = 4° + 2σₚ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72A29-9D7C-4E83-91AD-FF53E1BB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Tᵣ(canonical) = 4° + 2σᵣ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E84D7-143B-4534-8AF1-88645449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Calibration variability   →   Minimum tolerance + variability term   →   Canonical thresholds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D5FE0-6561-4206-A550-3C8176EE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9A03C-1B65-41E7-B635-D09734D8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4° minimum and factor 2 are engineering parameters, not medical cutoffs.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910EB-62FA-40A0-AD24-5B56D50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Monitoring never rewrites the canonical thresholds.</a:t>
            </a:r>
          </a:p>
        </p:txBody>
      </p:sp>
    </p:spTree>
    <p:extLst>
      <p:ext uri="{BB962C8B-B14F-4D97-AF65-F5344CB8AC3E}">
        <p14:creationId xmlns:p14="http://schemas.microsoft.com/office/powerpoint/2010/main" val="14745937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EEE3E-1734-4D27-822A-55F33A4C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Dominant posture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AAE6A-8DFC-484E-A8C2-D9B350D7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Magnitude selects the axis, signed baseline difference selects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46C2-8E4F-4E85-9FED-2817E22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FF2F5-4B6C-4BF0-9DED-8EAA00D8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6025"/>
            <a:ext cx="1314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37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Dₚ ≥ Dᵣ  →  pitch axis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BCE04-62EC-4018-9409-A51268CD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05175"/>
            <a:ext cx="1314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37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otherwise  →  roll axis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3961D-F9DE-4BF7-816B-D259B5F8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9600"/>
            <a:ext cx="1362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+ pitch: Forward       − pitch: Backward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B2576-BF6E-43F2-8F59-881D81D2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1362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+ roll: Right                 − roll: Left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3A23B-F835-4BBD-9A27-CC128A21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Deviation magnitudes + signed offset   →   Dominant-axis selection   →   Direction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97D11-D598-41C5-B08E-9564E0D8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96A57-4924-49BB-9378-B20B1D88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Positive/negative means relative to the calibrated baseline. Pitch wins 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3B429-5018-40CD-B852-91B366A7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Direction preserves the specific axis that generated the alert.</a:t>
            </a:r>
          </a:p>
        </p:txBody>
      </p:sp>
    </p:spTree>
    <p:extLst>
      <p:ext uri="{BB962C8B-B14F-4D97-AF65-F5344CB8AC3E}">
        <p14:creationId xmlns:p14="http://schemas.microsoft.com/office/powerpoint/2010/main" val="10855800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DC193-20E9-46DF-9966-99C73544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Stability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2610C-0AAB-4E77-8DED-4D1B2E9B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Test variability in a rolling two-second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CFBCA-5EF9-46A0-820F-3438DCD6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9534F-0E3C-4894-B520-90E7BA47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σₚ(window) ≤ 2°     AND     σᵣ(window) ≤ 2°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FEFF2-6474-4339-AC57-65AB47F5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window ≤ 2 s     minimum n =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C47F5-1039-4002-AD0A-C2996C9D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Body pitch / roll history   →   Window variability   →   Stable / unstable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53366-7B0A-4947-B253-6237B156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65399-1E49-4865-9FB6-E40184F6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The detector needs 10 samples, not necessarily a full two seconds of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2FAFE-E9B9-4B94-93E7-1CE6322A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Stability rejects dynamic movement before persistence can accumulate.</a:t>
            </a:r>
          </a:p>
        </p:txBody>
      </p:sp>
    </p:spTree>
    <p:extLst>
      <p:ext uri="{BB962C8B-B14F-4D97-AF65-F5344CB8AC3E}">
        <p14:creationId xmlns:p14="http://schemas.microsoft.com/office/powerpoint/2010/main" val="8793782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6D2BE-9E07-47E0-B568-C0B7E578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Persistence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261F2-6817-4A57-8150-1D585A36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Require sustained deviation while posture remains stable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F04F3-7F38-41A9-81DF-23001032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AFF67-9572-4BF6-B423-A8F5ACAD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Outside threshold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CA570-169F-4892-AD8B-2CAD9829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3000375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Stable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5107A-F1EB-48D5-9A6D-5CAE341E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Elapsed ≥ 3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5A3A1-AE6D-4C0B-B088-24F0F2A2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3000375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Feedback eligible</a:t>
            </a:r>
          </a:p>
        </p:txBody>
      </p: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43363" y="3371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05701" y="3371850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968038" y="3371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B8D0D-9494-4A9F-A0A2-FAB00209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362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Accumulate only when: deviation AND stable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B7698-5A8C-4EE1-B35F-16000B91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Stable outside state   →   Timestamp-based persistence   →   Sustained flag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AEFF0-1BB8-4C50-B532-37F78FD1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B89F3-1B90-4AE0-9880-C304C924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Losing deviation or stability resets persistence immediately.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E5601-5A49-4EA7-A141-3D6B5D34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A transient deviation cannot trigger feedback on its own.</a:t>
            </a:r>
          </a:p>
        </p:txBody>
      </p:sp>
    </p:spTree>
    <p:extLst>
      <p:ext uri="{BB962C8B-B14F-4D97-AF65-F5344CB8AC3E}">
        <p14:creationId xmlns:p14="http://schemas.microsoft.com/office/powerpoint/2010/main" val="3861377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12BD8F-363F-4D34-BBC5-F2C000B1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Layered false-feedback suppression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C95C0-07BA-4DAB-8C00-56DD0C69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Each stage addresses a different source of unwanted alerts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59B5B-224B-4FAD-B9A8-12CEF794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DA021-F624-4469-BFF0-DCBCAEED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079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Raw sensor</a:t>
            </a:r>
          </a:p>
          <a:p xmlns:a="http://schemas.openxmlformats.org/drawingml/2006/main">
            <a:pPr algn="ctr">
              <a:def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930BC-ACC3-4A26-863D-9F747B90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50" y="2857500"/>
            <a:ext cx="2079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Complementary</a:t>
            </a:r>
          </a:p>
          <a:p xmlns:a="http://schemas.openxmlformats.org/drawingml/2006/main">
            <a:pPr algn="ctr">
              <a:def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filter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B078B-D6A1-4E0F-A6D1-A65FC02B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075" y="2857500"/>
            <a:ext cx="2079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Personalized</a:t>
            </a:r>
          </a:p>
          <a:p xmlns:a="http://schemas.openxmlformats.org/drawingml/2006/main">
            <a:pPr algn="ctr">
              <a:def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BE258-1BA2-4834-A6D8-AAE0161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2079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Stability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2163F-2A68-40B3-9CF7-DD9ADE95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25" y="2857500"/>
            <a:ext cx="2079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Persistence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7D6FF-FEE7-4ADF-9A30-FFD7D6B4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0750" y="2857500"/>
            <a:ext cx="2079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89250" y="32289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197475" y="32289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05700" y="32289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813925" y="32289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2122150" y="32289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5FD30-DDF4-40D6-B802-BF1F09EA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14800"/>
            <a:ext cx="1362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Fusion: orientation noise and gyro drift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175E0-BB23-4C4B-9897-74974A5B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38675"/>
            <a:ext cx="1362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Personalization: natural individual variation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B3E16-BF87-4D87-9E42-722C5863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62550"/>
            <a:ext cx="1362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Stability + persistence: dynamic or brief deviations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E1EC5-74CF-43B3-A088-3FBC8D6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0CF34-563E-48DE-9D59-F647EA4B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No extra smoothing or feedback cooldown is implemented.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29FC0-5BAF-4732-B665-1BAB4E4B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Layered decisions separate sensor variation from sustained deviation.</a:t>
            </a:r>
          </a:p>
        </p:txBody>
      </p:sp>
    </p:spTree>
    <p:extLst>
      <p:ext uri="{BB962C8B-B14F-4D97-AF65-F5344CB8AC3E}">
        <p14:creationId xmlns:p14="http://schemas.microsoft.com/office/powerpoint/2010/main" val="4757461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48BB7-DE8A-4B2C-9EED-B0711704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Feedback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E451A-FD4A-4CD5-BFCD-27DC13B1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Translate sustained deviation and current feedback mode into a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AE459-4AD5-4D15-9257-23500FD9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4281C-0048-4129-8F92-0A34A3A6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390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shouldVibrate = sustainedDeviation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C9147-0775-4DBB-9044-EBD6DD48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Stateless decision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EFF2E-9A48-4429-AF85-CF6BFD5E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005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Start observation only when no correction is active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BE958-AE3F-4A16-BB20-0C6B25F1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43475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One real feedback event per new 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8C6DF-831E-47CF-BD39-94EF4B71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Persistence + adaptive feedback mode   →   Eligibility   →   Haptic command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81929-DC55-400F-ACB0-F6BFB493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66EDF-25CC-4924-A278-B42D65DE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Adaptive mode cannot bypass stability or persistence. No feedback cooldown.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A2FA4-F390-4730-B687-7D2C34F2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Feedback eligibility and command reassertion are separate decisions.</a:t>
            </a:r>
          </a:p>
        </p:txBody>
      </p:sp>
    </p:spTree>
    <p:extLst>
      <p:ext uri="{BB962C8B-B14F-4D97-AF65-F5344CB8AC3E}">
        <p14:creationId xmlns:p14="http://schemas.microsoft.com/office/powerpoint/2010/main" val="10507391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4842E-D622-403E-8CCA-59EAA579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Phone haptic feedback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5D2BF-D0CA-4F96-86E6-52931D71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Repeat the current vibration command until target-axis correction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BF304-C19D-4F18-ADBF-FA26A959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4B651-128C-4F4D-A2E4-76C794AA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47950"/>
            <a:ext cx="1362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37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Vibration.vibrate([0, 200, 100], true)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FB57F-2DE2-498E-BFBD-E5B85E07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1362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0 ms delay     200 ms on     100 ms off     repeat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2EA94-61F8-4DA7-9B29-0FF140BE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Eligible feedback   →   Continuous repeating phone pattern   →   Tactile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AF1D4-F2A5-49F1-BF9B-D8758AF5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49145-A58E-4B09-9DD5-4866CE0D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Fixed vibration behavior. Variable amplitude/intensity is NOT implemented.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D578D-46E1-43D6-B5D9-704A27C6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Correction or lifecycle stop calls Vibration.cancel().</a:t>
            </a:r>
          </a:p>
        </p:txBody>
      </p:sp>
    </p:spTree>
    <p:extLst>
      <p:ext uri="{BB962C8B-B14F-4D97-AF65-F5344CB8AC3E}">
        <p14:creationId xmlns:p14="http://schemas.microsoft.com/office/powerpoint/2010/main" val="3571492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CF1C2-9352-404F-BE90-2A652D4F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Correction response tracking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CF9F6-403E-4DFE-A03E-F727A7B4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Measure return within the alerted axis’s effective threshold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4B605-F712-43F9-981E-5CABC3E6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59CE7-E08D-4C9F-B05F-90164B18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T(response) [s] = (t(correction) − t(feedback)) / 1000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395F1-7CD0-458D-B530-45617D64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WAITING   →   OBSERVING   →   CORRECTED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67DE6-BED1-470A-9099-D4878B5D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Feedback + target-axis outside flag   →   Observe until target returns inside   →   Completed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4362B-2E07-43F2-9295-2F28AC43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6AF2D-904F-4E33-8BBA-485B4F92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Forward/backward checks pitch. Left/right checks roll. No timeout failure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A1A3A-0768-4FC2-AA0F-4909B093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The unrelated axis can remain outside when the target correction completes.</a:t>
            </a:r>
          </a:p>
        </p:txBody>
      </p:sp>
    </p:spTree>
    <p:extLst>
      <p:ext uri="{BB962C8B-B14F-4D97-AF65-F5344CB8AC3E}">
        <p14:creationId xmlns:p14="http://schemas.microsoft.com/office/powerpoint/2010/main" val="2556723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AAEEE-D02D-4B2F-9874-544D560F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Adaptive feedback response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51A32-1F84-4D55-B6C2-D6EB073E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Classify only completed corrections from the current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94E3A-871F-4770-B8CA-48A7A490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23EAD-BF6E-45AB-8628-E7E796FF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90800"/>
            <a:ext cx="1362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087F80"/>
                </a:solidFill>
                <a:latin typeface="STIX Two Text"/>
                <a:ea typeface="STIX Two Text"/>
                <a:cs typeface="STIX Two Text"/>
              </a:defRPr>
            </a:pPr>
            <a:r>
              <a:rPr sz="3750" b="0">
                <a:solidFill>
                  <a:srgbClr val="087F80"/>
                </a:solidFill>
                <a:latin typeface="STIX Two Text"/>
                <a:ea typeface="STIX Two Text"/>
                <a:cs typeface="STIX Two Text"/>
              </a:rPr>
              <a:t>T &lt; 3 s              FAST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1856B-6828-4030-944F-526D0DBC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1362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37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3 s ≤ T ≤ 6 s      NORMAL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4C808-B068-45AA-87AB-7430121D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362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A96613"/>
                </a:solidFill>
                <a:latin typeface="STIX Two Text"/>
                <a:ea typeface="STIX Two Text"/>
                <a:cs typeface="STIX Two Text"/>
              </a:defRPr>
            </a:pPr>
            <a:r>
              <a:rPr sz="3750" b="0">
                <a:solidFill>
                  <a:srgbClr val="A96613"/>
                </a:solidFill>
                <a:latin typeface="STIX Two Text"/>
                <a:ea typeface="STIX Two Text"/>
                <a:cs typeface="STIX Two Text"/>
              </a:rPr>
              <a:t>T &gt; 6 s              SLOW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ED1DB-6BE6-40EA-BE8B-EA9F1984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Completed response times   →   Bounded latest-five history   →   Feedback mode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DF936-211E-4E4E-8060-0D625E5A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A951B-866E-4777-88EF-53429E2A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Ignore incomplete/non-finite responses. Reset history for each new session.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C670D-1502-450B-8B89-96C5B24D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Slow correction describes response behavior, not physiological fatigue.</a:t>
            </a:r>
          </a:p>
        </p:txBody>
      </p:sp>
    </p:spTree>
    <p:extLst>
      <p:ext uri="{BB962C8B-B14F-4D97-AF65-F5344CB8AC3E}">
        <p14:creationId xmlns:p14="http://schemas.microsoft.com/office/powerpoint/2010/main" val="11221830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43BD6-CAE7-4706-AE05-58A4912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Adaptive feedback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0B101-C4E1-489C-91A1-2669DE80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Modes vary command persistence without varying vibration amplitude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DFAAB-2D71-42E5-AD1E-52E2BE42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5AE57-8E84-4695-B0D8-61E0AA6B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146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NORMAL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22774-E86E-4F1E-94C1-B0C5ECC1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146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No consistent slow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72BD1-541F-4B39-A14B-ACB11CBD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38475"/>
            <a:ext cx="857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Start once, no reassertion timer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1B2CA-6F0B-4804-8E9C-9D9CF292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766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PERSISTENT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4F757-36D4-434D-A1FA-47EDB29C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766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≥ 2 slow among latest 3 responses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B625D-4F04-4353-A1B4-5692996E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00550"/>
            <a:ext cx="857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Reassert the same command every 6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D44D4-A517-4597-8631-1613C72D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HIGH_PERSISTENCE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06576-B13E-4F06-AB9B-C0772C3B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38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≥ 4 slow among latest 5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13EBE-B046-4FBB-B853-71EA1EFA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62625"/>
            <a:ext cx="857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Reassert the same command every 3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C9819-6B21-4977-8560-96F04A39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FB21E-E07D-4559-953D-AD10FB05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Timer requires active monitoring AND active correction observation.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F96B4-9609-49A1-ACAC-D9E03919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Correction always stops reassertion and vibration.</a:t>
            </a:r>
          </a:p>
        </p:txBody>
      </p:sp>
    </p:spTree>
    <p:extLst>
      <p:ext uri="{BB962C8B-B14F-4D97-AF65-F5344CB8AC3E}">
        <p14:creationId xmlns:p14="http://schemas.microsoft.com/office/powerpoint/2010/main" val="1620117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B3149-79BC-45F8-8727-C03C717F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Purpose of adaptive thresholds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FE4C5-24E9-4A47-ADEF-67920F13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Account for behavioral evidence consistent with prolonged-use difficulty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28FD7-AA9B-4FDF-AD17-7C4DF2C6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77FE6-EC82-41F9-A26A-D2EF32FB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Canonical</a:t>
            </a:r>
          </a:p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tolerance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40269-446C-4260-8EEB-17959D1D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3000375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Changing</a:t>
            </a:r>
          </a:p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behavior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797C1-ECA7-47FC-8FEF-99DE7A49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Multiple</a:t>
            </a:r>
          </a:p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BE11D-61F2-482E-AFD9-7CFB0730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3000375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Bounded effective</a:t>
            </a:r>
          </a:p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threshold</a:t>
            </a:r>
          </a:p>
        </p:txBody>
      </p: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43363" y="3371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05701" y="3371850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968038" y="3371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414B5-A2C7-4325-9F50-615E492A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Evidence develops from observed trends within one 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4B343-E416-44CC-AF84-7A254E64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Posture + completed corrections   →   Behavioral evidence   →   Temporary axis-specific adjustment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AE563-36D0-4D03-9605-C6FED236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8B4DF-AEFE-4FE2-B4AB-C8FC31CF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No physiological fatigue detection, learned model or backend-driven adaptation.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C4C93-93E7-4CDE-9849-9084FC43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Adaptive tolerance leaves the natural-posture reference unchanged.</a:t>
            </a:r>
          </a:p>
        </p:txBody>
      </p:sp>
    </p:spTree>
    <p:extLst>
      <p:ext uri="{BB962C8B-B14F-4D97-AF65-F5344CB8AC3E}">
        <p14:creationId xmlns:p14="http://schemas.microsoft.com/office/powerpoint/2010/main" val="20149799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5400E-83D6-4AFF-AF1C-10E0731E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Five normalized adaptive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7CAD0-6278-4FD8-87A7-5625053F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Pitch and roll maintain independent posture-feature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A71F5-A93E-4657-B5F4-F9436209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0F960-BE7A-45F3-A98B-A779DEDD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38400"/>
            <a:ext cx="1076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f₁   Deviation trend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0A8AB-6629-4850-A224-ED414631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67050"/>
            <a:ext cx="1076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f₂   Deviation frequency trend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E3181-33B4-4986-9CA6-30B75756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95700"/>
            <a:ext cx="1076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f₃   Completed correction-response trend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BA345-B0A0-46A3-B697-819A1F81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24350"/>
            <a:ext cx="1076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f₄   Declining good-posture period duration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5889C-D445-458A-BBAC-E245C9FD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1076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f₅   Increasing near-threshold 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D3189-FAA0-4622-9514-0D3D29BD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19375"/>
            <a:ext cx="371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295FAB"/>
                </a:solidFill>
                <a:latin typeface="STIX Two Text"/>
                <a:ea typeface="STIX Two Text"/>
                <a:cs typeface="STIX Two Text"/>
              </a:defRPr>
            </a:pPr>
            <a:r>
              <a:rPr sz="3825" b="0">
                <a:solidFill>
                  <a:srgbClr val="295FAB"/>
                </a:solidFill>
                <a:latin typeface="STIX Two Text"/>
                <a:ea typeface="STIX Two Text"/>
                <a:cs typeface="STIX Two Text"/>
              </a:rPr>
              <a:t>fᵢ ∈ [0, 1]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5357F-6AF2-4EF6-A374-38ABC6C1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9433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Near threshold</a:t>
            </a:r>
          </a:p>
          <a:p xmlns:a="http://schemas.openxmlformats.org/drawingml/2006/main">
            <a:pPr algn="l">
              <a:defRPr sz="225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75–100% of 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6B24E-7C08-48D5-B515-8428DE5A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1BE05-02A7-498D-9D34-74E3E864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Correction trend is shared session context. Near-threshold exposure alone is not bad posture.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CBA76-6E88-45E3-A894-8749583E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Multiple trends contribute evidence without reconstructing physiological state.</a:t>
            </a:r>
          </a:p>
        </p:txBody>
      </p:sp>
    </p:spTree>
    <p:extLst>
      <p:ext uri="{BB962C8B-B14F-4D97-AF65-F5344CB8AC3E}">
        <p14:creationId xmlns:p14="http://schemas.microsoft.com/office/powerpoint/2010/main" val="270130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8E4A3-35BF-4655-B9D0-BC14CC21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Equal-weight behavioral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CE331-4D7C-4783-976C-CAEE049D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Combine the implemented normalized features without learned weights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62070-1D5A-483B-811C-C6C19096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7211C-8056-497F-84E4-4BA98B63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Eₜ = (f₁ + f₂ + f₃ + f₄ + f₅)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1C7D5-6346-4B58-9256-0FC21DC9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0 ≤ Eₜ ≤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B1E23-46DD-4597-A507-5C74DCBE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Five normalized features   →   Arithmetic mean   →   Per-axis combined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87ED1-F008-4D8E-9B8E-7A8E5F62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98F3D-D78B-453C-8E62-26868D0B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No sufficiently labelled dataset or validated learning reward supports learned weights.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A71A4-063F-4B3E-BEEC-1169D284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Each behavioral feature contributes one fifth of the evidence.</a:t>
            </a:r>
          </a:p>
        </p:txBody>
      </p:sp>
    </p:spTree>
    <p:extLst>
      <p:ext uri="{BB962C8B-B14F-4D97-AF65-F5344CB8AC3E}">
        <p14:creationId xmlns:p14="http://schemas.microsoft.com/office/powerpoint/2010/main" val="2334939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34174-AC93-4CF5-A6E0-FB30F9B2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Timestamp-aware temporal adaptation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C5C18-B67E-4CC8-8ED4-80702E5A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Smooth feature trends and combined evidence using elapsed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33D10-68B3-48E2-A8D6-436E190D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F3E4D-DBDF-4C78-BE23-67661F32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EMAₜ = αXₜ + (1 − α)EMA(previous)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6A1C2-4EE7-41C2-AAE1-045A07C2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α = 1 − exp(−Δt / τ)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82CB3-314A-4EC1-B61F-9DF07A3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Timestamped features / evidence   →   Short, long and evidence EMAs   →   Smoothed behavioral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6D718-22E0-4E39-8933-DFACD5AC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982AE-848C-4227-92DD-92C95296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DEMO τ: short 5 s, long 30 s, evidence 15 s. Production: 2 min, 10 min, 10 min.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DD384-86D8-4995-9F36-7FDBE481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EMA updates use actual elapsed time, not an assumed sample rate.</a:t>
            </a:r>
          </a:p>
        </p:txBody>
      </p:sp>
    </p:spTree>
    <p:extLst>
      <p:ext uri="{BB962C8B-B14F-4D97-AF65-F5344CB8AC3E}">
        <p14:creationId xmlns:p14="http://schemas.microsoft.com/office/powerpoint/2010/main" val="17570615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7EEE3-D8C9-40FD-BFE8-F645A6AC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Adaptive safety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ECDB-31C5-4285-B9A0-6E9296B0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Allow threshold movement only after evidence and safety checks 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B96EE-88E5-4490-B53D-4407C155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58FE4-1977-4839-89B2-CA956D73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19400"/>
            <a:ext cx="254127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Enough data?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387EA-541C-457C-B767-3EB414CE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495" y="2819400"/>
            <a:ext cx="254127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Stable?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08437-EEA7-4D53-BCA7-599AA2E8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365" y="2819400"/>
            <a:ext cx="254127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No severe</a:t>
            </a:r>
          </a:p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deviation?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FD40A-965B-411D-9A40-6894209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235" y="2819400"/>
            <a:ext cx="254127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No major</a:t>
            </a:r>
          </a:p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deterioration?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4B00A-32FC-4BF8-9373-3A3E45C4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05" y="2819400"/>
            <a:ext cx="254127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Allow movement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50895" y="31908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120765" y="31908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90635" y="31908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1660505" y="31908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06DF2-56E8-4E20-9713-310F5FD0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290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DEMO data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E40E5-0639-45D4-8BEF-A323792C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91050"/>
            <a:ext cx="1362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≥ 20 s observed and ≥ 100 valid processed samples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E7E4C-02D1-4132-A4FC-305615CD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1362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≥ 3 completed corrections and ≥ 2 good periods per axis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69B3A-9DCB-45CB-AF08-2868E0DC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0C3ED-F33D-47A6-81D7-F0107E80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Major deterioration: deviation trend ≥ 0.75 AND frequency trend ≥ 0.75.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1D693-DCDB-4497-9B57-A988DE19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Any failed gate freezes that axis’s current adjustment.</a:t>
            </a:r>
          </a:p>
        </p:txBody>
      </p:sp>
    </p:spTree>
    <p:extLst>
      <p:ext uri="{BB962C8B-B14F-4D97-AF65-F5344CB8AC3E}">
        <p14:creationId xmlns:p14="http://schemas.microsoft.com/office/powerpoint/2010/main" val="19438659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6F347-5F08-473E-B0E2-D437CFE0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Bounded adaptive threshold adjustment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38598-E225-4427-8E03-0FC8C57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Add a temporary non-negative tolerance to each canonical threshold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44754-1DEE-4D60-BD3C-7360D777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10B4A-383F-4942-A5AD-97D24E9C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T(effective) = T(canonical) +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0E3DD-B239-4DC7-ADF6-D3F67136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0° ≤ A ≤ 3°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5B61D-147F-4A4F-8B9B-1EF37859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Canonical threshold + evidence state   →   Safety-gated bounded adjustment   →   Next effective 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8DC88-FE87-42B3-96D1-A23AD970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31038-8D03-4F86-B11D-9B342510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DEMO rate ≤ 1.5°/min, elapsed step ≤ 5 s. Production ≤ 0.25°/min, step ≤ 60 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CC17D-1686-4D3C-A017-2C11AF3F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Each new session starts with zero pitch and roll adjustment.</a:t>
            </a:r>
          </a:p>
        </p:txBody>
      </p:sp>
    </p:spTree>
    <p:extLst>
      <p:ext uri="{BB962C8B-B14F-4D97-AF65-F5344CB8AC3E}">
        <p14:creationId xmlns:p14="http://schemas.microsoft.com/office/powerpoint/2010/main" val="12589641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E2E05-2294-4A65-B02F-79FF0D7C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Recovery toward canonical thresholds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14C46-9435-4B43-B39C-CF24599C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Decreasing evidence lowers the permitted adjustment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D2DBB-A84E-46F8-8244-37AEF6BE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8F0C4-D70E-4601-927D-F405AE41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76525"/>
            <a:ext cx="1362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360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A(target) = 3° × clamp₀₋₁[(EMA(E) − 0.30) / 0.70]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40322-B6DF-4E9C-AED0-D4E98E1C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Evidence decreases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2D981-6093-43BB-97A4-6A6ADEF9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4191000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Target decreases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E8669-1D7B-4A40-8793-5263788D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91000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Rate-limited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FE3CD-66A9-4510-A54F-7275D374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4191000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T_effective approaches</a:t>
            </a:r>
          </a:p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T_canonical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43363" y="45624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05701" y="4562475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968038" y="45624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D3CC3-9E49-4800-821F-9E111C76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Lower evidence EMA   →   Move adjustment toward target   →   Reversible tolerance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D3FC4-3899-4F19-8BCE-A18453C8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2AE46-358A-447C-B23B-5813438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Recovery also requires passing safety gates. A veto freezes current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74D81-20CA-4B51-B3F7-E78A98EC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Temporary relaxation never becomes a replacement baseline.</a:t>
            </a:r>
          </a:p>
        </p:txBody>
      </p:sp>
    </p:spTree>
    <p:extLst>
      <p:ext uri="{BB962C8B-B14F-4D97-AF65-F5344CB8AC3E}">
        <p14:creationId xmlns:p14="http://schemas.microsoft.com/office/powerpoint/2010/main" val="92776271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4BB8C-C862-4BFF-AD1F-5447E0AA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Severe-deviation veto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99269-77D1-4510-9C9C-CC5B5C31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High evidence cannot override severe current posture deviation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6AB4E-D2EA-47D1-9C4A-10ABCABD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14452-B226-4950-AFDF-2A48CEC3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D(axis) &gt; 2 × T(axis, effective)   ⇒   freeze A(axis)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E5A06-8A03-4745-94A2-67B5F0BF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Current axis deviation + effective threshold   →   Severe-deviation check   →   No further relaxation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DF2C0-5C3F-431C-B2DC-3E92039B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4A47F-3598-4806-9AAA-0B2F040B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The veto is per axis and holds its existing adjustment. It does not reset calibration.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97DD2-9B3F-4986-A8E4-266D2A83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Safety takes precedence over the behavioral evidence score.</a:t>
            </a:r>
          </a:p>
        </p:txBody>
      </p:sp>
    </p:spTree>
    <p:extLst>
      <p:ext uri="{BB962C8B-B14F-4D97-AF65-F5344CB8AC3E}">
        <p14:creationId xmlns:p14="http://schemas.microsoft.com/office/powerpoint/2010/main" val="2300067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427F3-F54D-4A84-9697-812B498E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Traceable session recording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2CBA6-DE1E-473E-826E-E2517EB3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Record the exact posture values and events used by the running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8687B-E9C5-4BA2-8717-1F30CE6D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5D466-991C-4DD3-ADDE-80846D84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SESSION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79EE2-C783-4BCC-9282-9FBC7048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099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id + start/end + duration + sampling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35799-6E6E-4349-843E-E6581015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90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canonical calibration snapshot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6B179-A35B-4322-83B9-BBBF5993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7197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samples[] + feedbackEvents[]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C3A5A-3258-4BA8-BE30-A4003884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completed correctionResponses[]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2AA4C-6724-4346-8A42-5B5B68C1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POSTURE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0F23C-FBB4-4D63-A673-0486CB3D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9925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timestamp, body pitch / roll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C8D74-EB57-4663-9992-14043BC9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90950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absolute deviations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941F5-D5CD-4299-A425-CB66C792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71975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effective thresholds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C28D9-FD13-4B41-B40F-C2882335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0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acceptability +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537F8-4C7A-448F-8CD2-F545D2E1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EEC56-2736-4D47-BA3C-21A92AA0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Start time is the first valid monitoring sample. Events/responses reject duplicates.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10491-BED9-40D2-984A-1F8D3490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Recording preserves evidence for later session analysis.</a:t>
            </a:r>
          </a:p>
        </p:txBody>
      </p:sp>
    </p:spTree>
    <p:extLst>
      <p:ext uri="{BB962C8B-B14F-4D97-AF65-F5344CB8AC3E}">
        <p14:creationId xmlns:p14="http://schemas.microsoft.com/office/powerpoint/2010/main" val="78827088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6FBC1-6A13-44E9-A095-B8EF34B1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Session performance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A9BC1-517C-424E-8808-24E2FD4F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Compute existing metrics only after session finalization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D6AE2-1CC7-4067-8892-2A0D2BA5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8473C-1C2D-4B4D-95DE-223B5587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330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Consistency = GoodPostureTime / MonitoredDuration × 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C1E5E-DC01-49CD-948E-A285E063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330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CompletionRate = CompletedCorrections / FeedbackEvents ×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ECD66-E3D7-4EC0-A611-CC66C440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00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330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MeanCorrectionTime = (Σ responseTimeᵢ) / N_completed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7BEA1-856B-4C03-A7C7-CA557AF9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Finalized samples + feedback + responses   →   Existing metric calculator   →   Session metric 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740DD-A1FB-432D-8EF6-BE7E5DDF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B99BE-6A07-472F-BACA-7B6E1C34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No responses: correction mean is null. Zero denominators: core metrics return 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6C943-2530-4E5B-BE51-2E23AA2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Completion rate measures recorded response behavior, not clinical success.</a:t>
            </a:r>
          </a:p>
        </p:txBody>
      </p:sp>
    </p:spTree>
    <p:extLst>
      <p:ext uri="{BB962C8B-B14F-4D97-AF65-F5344CB8AC3E}">
        <p14:creationId xmlns:p14="http://schemas.microsoft.com/office/powerpoint/2010/main" val="4889849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03981-625D-443B-B123-9EE21EDE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Observed posture time and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EC8BB-A967-40DC-A8A8-1C811AF0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Preserve measured timing rather than assuming perfect 50 Hz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FAB40-B928-4F1A-97AA-C5C0648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4F354-08D6-4E6E-992F-5B465D1E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GoodTime = Σ positive Δtᵢ where sampleᵢ is acceptable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3BFE1-20B4-41F5-86F2-C7C02D5D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ActualRate = SampleCount / (MonitoredDuration / 1000)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A5DB5-C4FE-4D66-B783-E386E9E2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Adjacent sample timestamps   →   Earlier-sample interval convention   →   Recorded good time + Hz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AE808-D047-4C98-9F9A-AE3E1CCB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B7C2B-A616-42DB-ABA5-0E27435F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The last-sample-to-stop tail remains unclassified. Duration fields are milliseconds.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501F6-94E3-4387-A8CC-52F8F273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Poor time needs raw intervals and cannot equal total time minus good time.</a:t>
            </a:r>
          </a:p>
        </p:txBody>
      </p:sp>
    </p:spTree>
    <p:extLst>
      <p:ext uri="{BB962C8B-B14F-4D97-AF65-F5344CB8AC3E}">
        <p14:creationId xmlns:p14="http://schemas.microsoft.com/office/powerpoint/2010/main" val="115871511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500C0-0748-4593-98B3-0F7A5D9C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Completed-session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FB562-096C-47CB-9D63-64BF658A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Finalize locally before asynchronous upload or historical refresh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0F992-6267-4D5A-A267-D1E8AE3F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51BD2-690B-4ECA-9BB1-BA485A3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62275"/>
            <a:ext cx="254127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Stop monitoring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114FE-8B79-44D1-9052-8C2EAF51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495" y="2962275"/>
            <a:ext cx="254127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Cancel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3C9B8-0958-4241-8D01-C6662B5D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365" y="2962275"/>
            <a:ext cx="254127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Finalize once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CA8C3-07F9-47C7-8DE2-0144E955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235" y="2962275"/>
            <a:ext cx="254127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Calculate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5E826-8898-4ED2-B6F0-8310B59B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05" y="2962275"/>
            <a:ext cx="254127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Upload asynchronously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50895" y="33337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120765" y="33337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90635" y="33337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1660505" y="33337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05202-88F9-4FDA-9201-FA342150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95775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Results remain visible while uploading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009A1-88EB-4B82-94DA-36776D89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3870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Failure retains the same session and ID for manual retry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755D7-3EF4-40A5-950A-06F846AE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81625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HTTP 409 means possibly saved, not confirmed persistence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0E579-50B0-4AD7-9419-535E92A4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4DF00-4378-4B03-B9BE-965E648D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Pending uploads live in memory only. No durable offline queue or automatic retry.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44A21-F278-4621-9AFA-9F4BF365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Network availability never decides real-time posture feedback.</a:t>
            </a:r>
          </a:p>
        </p:txBody>
      </p:sp>
    </p:spTree>
    <p:extLst>
      <p:ext uri="{BB962C8B-B14F-4D97-AF65-F5344CB8AC3E}">
        <p14:creationId xmlns:p14="http://schemas.microsoft.com/office/powerpoint/2010/main" val="2702507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55B98-8F98-4870-AD02-BEF10609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Backend session persistence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00BE4-79B6-426B-9299-462A8B73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Express validates completed-session JSON before SQLite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45E65-523F-4F7C-9FCB-E1B202C6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CF02D-9195-4B55-ACA5-5EBA92BF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43225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POST /api/sessions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3F18E-AB06-4D3E-AF65-BF1B2403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2943225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Runtime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65BF7-8E40-4D40-867F-58E72169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43225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SQLite WAL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C277F-E096-4836-80B1-0492AEEC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2943225"/>
            <a:ext cx="32337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Stored session JSON</a:t>
            </a:r>
          </a:p>
        </p:txBody>
      </p: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43363" y="33147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96613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05701" y="3314700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96613"/>
            </a:solidFill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968038" y="33147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96613"/>
            </a:solidFill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848FC-D84F-4A20-8227-A3D0892D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91025"/>
            <a:ext cx="1362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Valid upload → 2xx        Malformed / non-finite → 400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FFD33-5E84-44A4-BBC8-5DF3BC01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1362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Duplicate session ID → 409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98E8C-37D4-459C-ADE8-D9AA7057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34025"/>
            <a:ext cx="1362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GET /api/sessions/:id retrieves one full stored 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EE4B9-42F5-4895-9EDE-66CDA7F0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2D505-3C07-425F-80CD-83DEF887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50 MB JSON limit. backend/posture.db is host-local runtime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24A94-2D21-4A5B-8A3F-31374CFA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Backend storage stays outside the sensor-to-feedback loop.</a:t>
            </a:r>
          </a:p>
        </p:txBody>
      </p:sp>
    </p:spTree>
    <p:extLst>
      <p:ext uri="{BB962C8B-B14F-4D97-AF65-F5344CB8AC3E}">
        <p14:creationId xmlns:p14="http://schemas.microsoft.com/office/powerpoint/2010/main" val="678798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B855E-9CA0-4D2F-ADC4-06C50137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Historical metrics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5B75C-3709-47E6-B196-DA844E3A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Derive aggregate summaries and compact trends from persisted sessions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B603B-7944-4752-A921-83E42AAC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A7ACD-BB0A-4377-A287-7D9D9601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28900"/>
            <a:ext cx="1362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GET /api/metrics/summary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63B12-597F-43A1-A47C-65414113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14700"/>
            <a:ext cx="1362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All-time weighted totals + coverage counts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6FF56-6552-49B1-ABEF-F59E0197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91025"/>
            <a:ext cx="1362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GET /api/metrics/trends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5B0DD-F397-4ECE-B4A5-45940ABA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05400"/>
            <a:ext cx="1362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Chronological per-session metrics, without raw samples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CF60F-B1A7-47C0-B2AD-C4D88DC2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EEA03-8C3E-4B47-8A31-69B2B07B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Legacy/incompatible rows are excluded and counted. No historical adaptive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7EAF1-EA9C-4911-A0C7-1DB17D77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Weekly and Daily aggregate trend records without fetching all raw sessions.</a:t>
            </a:r>
          </a:p>
        </p:txBody>
      </p:sp>
    </p:spTree>
    <p:extLst>
      <p:ext uri="{BB962C8B-B14F-4D97-AF65-F5344CB8AC3E}">
        <p14:creationId xmlns:p14="http://schemas.microsoft.com/office/powerpoint/2010/main" val="2005250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AA903-190D-43BA-A48C-CD0EB850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Individual-session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4D782-44EA-4323-92A0-90900A85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One session answers what happened at sample and event level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9E198-8E9A-4B03-929D-AAB0C3C9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D6969-932E-4A10-862D-ABDFCE06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09850"/>
            <a:ext cx="1362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Posture timeline + pitch / roll deviation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9AD81-B6A7-44F8-AC0B-98887DC3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67075"/>
            <a:ext cx="1362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Deviation distribution + directional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23620-9184-4B58-9875-06B25C86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24300"/>
            <a:ext cx="1362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Completed responses + directional correction times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386BA-F280-4966-8468-DDDAF58A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81525"/>
            <a:ext cx="1362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Recorded effective thresholds + derived adjustments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11F94-9848-4EAB-91F5-134F9D93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24525"/>
            <a:ext cx="1362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Stability history and adaptive evidence history: UNAVAILABLE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C5CFD-E1B3-4470-B249-A57F8ACF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54993-EC6A-4145-9952-38763B64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Stored samples support threshold history, not controller evidence or veto history.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175EA-544E-4E5D-9573-83604AC9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The full Session dashboard opens from an explicit session selection.</a:t>
            </a:r>
          </a:p>
        </p:txBody>
      </p:sp>
    </p:spTree>
    <p:extLst>
      <p:ext uri="{BB962C8B-B14F-4D97-AF65-F5344CB8AC3E}">
        <p14:creationId xmlns:p14="http://schemas.microsoft.com/office/powerpoint/2010/main" val="91010315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FF89D-30F9-4B72-B7A9-54959271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Daily historical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D8E7D-C788-4ADC-9EE1-1ACFB6A0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Aggregate all sessions whose start date belongs to one selected local 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14AE6-89C2-4AFA-A29C-43E2F7A0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F0238-F36A-4422-A2F7-54581B91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DailyConsistency = Σ GoodTime / Σ MonitoredTime × 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904B8-BE3D-40A3-B1E6-B8428AD9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1362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Session trends + whole-day direction / valid time-of-day usage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B4AC4-DB87-4399-9911-A5825A69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Selected-day sessions   →   Duration-weighted aggregation   →   Complete day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4500E-D341-4B94-B4AB-F7060083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D58FF-E7BE-40AD-A5A0-D2261557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Chart points are sessions. Cross-midnight sessions belong to their start date.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CFD4C-3CB3-48CD-8112-325F7393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Daily reports usage, posture and response behavior across the whole day.</a:t>
            </a:r>
          </a:p>
        </p:txBody>
      </p:sp>
    </p:spTree>
    <p:extLst>
      <p:ext uri="{BB962C8B-B14F-4D97-AF65-F5344CB8AC3E}">
        <p14:creationId xmlns:p14="http://schemas.microsoft.com/office/powerpoint/2010/main" val="92944872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EDFEA-DFBE-4387-A3C6-D9D8C89A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Weekly historical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06D90-20AE-42D7-9E66-FE270BE4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Aggregate all selected-week sessions, with days as chart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C74A4-C4D1-4542-B009-A680C025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B6848-B53F-420B-BFF1-36914A02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62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defRPr>
            </a:pPr>
            <a:r>
              <a:rPr sz="4050" b="0">
                <a:solidFill>
                  <a:srgbClr val="102B3A"/>
                </a:solidFill>
                <a:latin typeface="STIX Two Text"/>
                <a:ea typeface="STIX Two Text"/>
                <a:cs typeface="STIX Two Text"/>
              </a:rPr>
              <a:t>WeeklyConsistency = Σ GoodTime / Σ MonitoredTime × 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19F0D-BB79-4BE2-8518-9B48FB2E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1362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Daily consistency, duration, feedback, corrections and response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CAE16-6B6E-42C3-9141-17573E0F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Monday–Sunday local calendar   →   Seven daily aggregates   →   Complete week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E6637-244D-48C0-A703-306CE762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C0D09-C1C7-4EC4-A6A6-66D6999C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Missing days are N/A, never measured 0%. Daily average usage = week total / 7.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EFA67-C826-43BB-854B-5A5BC6DA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Weekly shows how recorded daily usage and response metrics vary.</a:t>
            </a:r>
          </a:p>
        </p:txBody>
      </p:sp>
    </p:spTree>
    <p:extLst>
      <p:ext uri="{BB962C8B-B14F-4D97-AF65-F5344CB8AC3E}">
        <p14:creationId xmlns:p14="http://schemas.microsoft.com/office/powerpoint/2010/main" val="17148932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8543E-1F83-4036-B194-B3EDB2A8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Duration-weighted consistency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B45AF-6790-421D-B086-C720C780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Illustrative arithmetic example, not a measured project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86EBF-5650-43BE-9917-58822390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348C9-1AAA-4649-95D2-F3969963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05075"/>
            <a:ext cx="1362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Session A: 10 min at 90%      Session B: 100 min at 60%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F5448-2F4A-4F9D-ADA4-F4C3FCE0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38550"/>
            <a:ext cx="1362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546974"/>
                </a:solidFill>
                <a:latin typeface="STIX Two Text"/>
                <a:ea typeface="STIX Two Text"/>
                <a:cs typeface="STIX Two Text"/>
              </a:defRPr>
            </a:pPr>
            <a:r>
              <a:rPr sz="3375" b="0">
                <a:solidFill>
                  <a:srgbClr val="546974"/>
                </a:solidFill>
                <a:latin typeface="STIX Two Text"/>
                <a:ea typeface="STIX Two Text"/>
                <a:cs typeface="STIX Two Text"/>
              </a:rPr>
              <a:t>Simple mean: (90 + 60) / 2 = 75%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53D26-E4C4-459D-BB5F-FE6E92CB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76775"/>
            <a:ext cx="1362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087F80"/>
                </a:solidFill>
                <a:latin typeface="STIX Two Text"/>
                <a:ea typeface="STIX Two Text"/>
                <a:cs typeface="STIX Two Text"/>
              </a:defRPr>
            </a:pPr>
            <a:r>
              <a:rPr sz="3675" b="0">
                <a:solidFill>
                  <a:srgbClr val="087F80"/>
                </a:solidFill>
                <a:latin typeface="STIX Two Text"/>
                <a:ea typeface="STIX Two Text"/>
                <a:cs typeface="STIX Two Text"/>
              </a:rPr>
              <a:t>Time-weighted: (9 + 60) / 110 × 100 = 62.7%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0CAA9-0194-4074-AC8E-759B6A71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7CFB0-6D5D-4F24-BA7F-7D3E0BEB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Aggregate recorded good time and monitored time, not session percentages.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BD07F-B149-409C-BFD4-EBB33637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Longer monitoring periods contribute proportionally more.</a:t>
            </a:r>
          </a:p>
        </p:txBody>
      </p:sp>
    </p:spTree>
    <p:extLst>
      <p:ext uri="{BB962C8B-B14F-4D97-AF65-F5344CB8AC3E}">
        <p14:creationId xmlns:p14="http://schemas.microsoft.com/office/powerpoint/2010/main" val="163646985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CB449-F8AD-497D-8303-7CB07457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Session, Daily and Weekly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5AD2F-A02F-4602-83EF-7F9A4DDA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Different analytical units answer different engineering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E9FC2-87F0-47EC-8522-90B259B3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DAA1A-DEE2-4682-A46D-AF0E9A18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SESSION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0451D-18D9-4576-8F2A-808FEF23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71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DAILY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D4F38-22D1-4F78-A370-D73ED8E1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5717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WEEKLY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0BDEC-BB9F-46E4-8C56-AB43BE28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766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Samples /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9C036-A3BD-40E1-AEE0-E86D2847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766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Sessions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68CE2-B0C3-41E6-899E-7DE0C2F7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766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Calendar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AD535-EDDD-447A-8B30-35C100B1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6250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What happened?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E5722-C29B-4829-B1A2-642ED61F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6250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How was the day?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491E4-88F8-4CC4-BB44-6ACEBA9A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762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How was the week?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AF049-7C17-4AF4-AEC9-3F8A3933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0ACDE-90A5-41BA-96A8-120F1B88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All period totals include every compatible dated session in the selected period.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BCFBE-C14A-4895-AE01-4B54AA89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Historical aggregation preserves the existing session metric definitions.</a:t>
            </a:r>
          </a:p>
        </p:txBody>
      </p:sp>
    </p:spTree>
    <p:extLst>
      <p:ext uri="{BB962C8B-B14F-4D97-AF65-F5344CB8AC3E}">
        <p14:creationId xmlns:p14="http://schemas.microsoft.com/office/powerpoint/2010/main" val="131955188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C8DD1-95B6-4FBF-969A-303AA945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Validation boundary and hardware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6E1A3-4730-4A13-B831-9B4BA158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Engineering/software validation does not establish physical or clinical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230D0-BDE8-4364-9E88-7D994070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56529-15EC-42BE-BEE1-F8EF7556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908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SOFTWARE-VALIDATED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D4B73-EDCC-4FF3-8482-DA5D28AA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Deterministic processing and safety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96928-C080-4EBC-8AC4-6ECABA62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814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Lifecycle, persistence and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F6861-97F8-42F7-B07F-28F1C17B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81525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TypeScript and Android export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094BA-4E2C-4694-9CAF-CBBF3A02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PHYSICAL VALIDATION 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753CF-8693-4F1B-9F3E-F79CFBA2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IMU cadence and mounting signs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D158A-7380-485A-95B7-75B51518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On-body calibration and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77800-82F0-4A6A-AB6F-D866268D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81525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Wearable haptic perception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C8E68-2CAA-4322-8FAD-2F865A0D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1362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Future belt: MCU → suitable driver → actuator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DF4E9-2337-42CE-8CB0-7C05DCEC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ASSUMPTION / 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E847B-82E2-4459-9479-36A1A0F0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1825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Current adaptive timing is DEMO/accelerated. Hardware intensity needs experimental calibration.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5954F-FB73-4D37-8B9C-92DB54DF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No ML prediction, physiological fatigue, clinical benefit or amplitude adaptation claim.</a:t>
            </a:r>
          </a:p>
        </p:txBody>
      </p:sp>
    </p:spTree>
    <p:extLst>
      <p:ext uri="{BB962C8B-B14F-4D97-AF65-F5344CB8AC3E}">
        <p14:creationId xmlns:p14="http://schemas.microsoft.com/office/powerpoint/2010/main" val="36762994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DC53D3-5C7A-49AF-AAC2-79F07D84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Complete end-to-end technical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7141D-6894-4545-9275-0E533805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Local sensing and adaptation produce traceable completed-session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34F1F-C0C8-4991-B06D-166CE961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6974"/>
                </a:solidFill>
                <a:latin typeface="Helvetica Neue"/>
                <a:ea typeface="Helvetica Neue"/>
                <a:cs typeface="Helvetica Neue"/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C8EF5-B493-4E4F-B77B-9AD426AF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REAL-TIME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3ED7F-89A3-47DE-ACA2-4083AB82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81300"/>
            <a:ext cx="131021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IMU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40E09-1E1A-47FB-949F-A7E6FDC3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442" y="2781300"/>
            <a:ext cx="131021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D78BA-9CE5-4B7A-9B5D-4B184BCC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258" y="2781300"/>
            <a:ext cx="131021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Filter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3CBE3-6DAD-47E5-BFB8-85418027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075" y="2781300"/>
            <a:ext cx="131021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Body mapping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BC5AE-9BF4-4329-BAE5-C62BC93F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892" y="2781300"/>
            <a:ext cx="131021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Calibrated</a:t>
            </a:r>
          </a:p>
          <a:p xmlns:a="http://schemas.openxmlformats.org/drawingml/2006/main">
            <a:pPr algn="ctr">
              <a:def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13388-1EAC-4AF4-A8EC-8CE0909F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708" y="2781300"/>
            <a:ext cx="131021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Deviation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8D77D-9171-4D7A-ABC9-26A8C7FC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25" y="2781300"/>
            <a:ext cx="131021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Stability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0D071-1C4E-4B97-AD00-36C3E409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342" y="2781300"/>
            <a:ext cx="131021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Persistence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9B854-9857-45E7-926E-C1E23E95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0158" y="2781300"/>
            <a:ext cx="131021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F80"/>
                </a:solidFill>
                <a:latin typeface="Helvetica Neue"/>
                <a:ea typeface="Helvetica Neue"/>
                <a:cs typeface="Helvetica Neue"/>
              </a:rPr>
              <a:t>Haptics</a:t>
            </a:r>
          </a:p>
        </p:txBody>
      </p:sp>
      <p:cxnSp>
        <p:nvCxnSpPr>
          <p:cNvPr id="4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19842" y="3152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58659" y="3152775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97475" y="3152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736292" y="3152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275109" y="3152775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813925" y="3152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1352742" y="3152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2891559" y="3152775"/>
            <a:ext cx="22859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0"/>
            </a:solidFill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6C13B-07F0-4E0B-827D-9D343197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7667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ADAPTIVE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33DBD-4527-469B-A34E-F49F42F9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0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Completed corrections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A2D54-498E-49C6-866B-E0616C9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24350"/>
            <a:ext cx="904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Response history → adaptive feedback → eligible haptics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27FFEA-3AC6-4DB5-A304-9C8711FC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14925"/>
            <a:ext cx="904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95FAB"/>
                </a:solidFill>
                <a:latin typeface="Helvetica Neue"/>
                <a:ea typeface="Helvetica Neue"/>
                <a:cs typeface="Helvetica Neue"/>
              </a:rPr>
              <a:t>Posture + corrections → features / EMA / gates → next threshold</a:t>
            </a:r>
          </a:p>
        </p:txBody>
      </p:sp>
      <p:cxnSp>
        <p:nvCxnSpPr>
          <p:cNvPr id="60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4238625" y="4619625"/>
            <a:ext cx="114300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238625" y="4924425"/>
            <a:ext cx="114300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95FAB"/>
            </a:solidFill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F81F4B-B0DB-4339-A211-698532A6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245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SESSION / HISTORICAL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E8A853-1BB0-4402-9A89-23F91FC9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381750"/>
            <a:ext cx="4387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Record + metrics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56640B-131F-463E-8D4E-9A5A3C7C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075" y="6381750"/>
            <a:ext cx="4387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Async API / SQLite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01F798-3E29-481D-9560-F0FAA8C5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25" y="6381750"/>
            <a:ext cx="4387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A96613"/>
                </a:solidFill>
                <a:latin typeface="Helvetica Neue"/>
                <a:ea typeface="Helvetica Neue"/>
                <a:cs typeface="Helvetica Neue"/>
              </a:rPr>
              <a:t>Session detail or Daily / Weekly</a:t>
            </a:r>
          </a:p>
        </p:txBody>
      </p:sp>
      <p:cxnSp>
        <p:nvCxnSpPr>
          <p:cNvPr id="66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197475" y="6753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96613"/>
            </a:solidFill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3925" y="6753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96613"/>
            </a:solidFill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03703C-858A-403F-9B51-8D97E8B7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0095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B3A"/>
                </a:solidFill>
                <a:latin typeface="Helvetica Neue"/>
                <a:ea typeface="Helvetica Neue"/>
                <a:cs typeface="Helvetica Neue"/>
              </a:rPr>
              <a:t>Canonical reference stays fixed. Correction stops feedback. Backend latency stays out of the loop.</a:t>
            </a:r>
          </a:p>
        </p:txBody>
      </p:sp>
    </p:spTree>
    <p:extLst>
      <p:ext uri="{BB962C8B-B14F-4D97-AF65-F5344CB8AC3E}">
        <p14:creationId xmlns:p14="http://schemas.microsoft.com/office/powerpoint/2010/main" val="1308223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2026-10-05T05:12:25.6620000Z</dcterms:created>
  <dcterms:modified xsi:type="dcterms:W3CDTF">2026-10-05T05:12:25.6620000Z</dcterms:modified>
</coreProperties>
</file>